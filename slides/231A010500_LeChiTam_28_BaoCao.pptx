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handoutMasterIdLst>
    <p:handoutMasterId r:id="rId16"/>
  </p:handoutMasterIdLst>
  <p:sldIdLst>
    <p:sldId id="257" r:id="rId6"/>
    <p:sldId id="258" r:id="rId7"/>
    <p:sldId id="259" r:id="rId8"/>
    <p:sldId id="260" r:id="rId9"/>
    <p:sldId id="261" r:id="rId10"/>
    <p:sldId id="262" r:id="rId11"/>
    <p:sldId id="265" r:id="rId12"/>
    <p:sldId id="263" r:id="rId13"/>
    <p:sldId id="264"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374" autoAdjust="0"/>
  </p:normalViewPr>
  <p:slideViewPr>
    <p:cSldViewPr snapToGrid="0">
      <p:cViewPr varScale="1">
        <p:scale>
          <a:sx n="66" d="100"/>
          <a:sy n="66" d="100"/>
        </p:scale>
        <p:origin x="632" y="3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B68441-9A0B-436B-BA97-1C66F388CA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7DAA03A-E157-4CFC-8C99-3C98F9F55C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EF305B-EB96-40B1-AA07-AFBF8E7CBFAB}" type="datetimeFigureOut">
              <a:rPr lang="en-US" smtClean="0"/>
              <a:t>7/24/2026</a:t>
            </a:fld>
            <a:endParaRPr lang="en-US"/>
          </a:p>
        </p:txBody>
      </p:sp>
      <p:sp>
        <p:nvSpPr>
          <p:cNvPr id="4" name="Footer Placeholder 3">
            <a:extLst>
              <a:ext uri="{FF2B5EF4-FFF2-40B4-BE49-F238E27FC236}">
                <a16:creationId xmlns:a16="http://schemas.microsoft.com/office/drawing/2014/main" id="{6283C502-7E98-4E6E-A35D-1996CBAAA11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C016E4D-F01B-42FF-ACCC-3C1EB329909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9A772C-78F5-450B-809E-5F9BDBB06EB2}" type="slidenum">
              <a:rPr lang="en-US" smtClean="0"/>
              <a:t>‹#›</a:t>
            </a:fld>
            <a:endParaRPr lang="en-US"/>
          </a:p>
        </p:txBody>
      </p:sp>
    </p:spTree>
    <p:extLst>
      <p:ext uri="{BB962C8B-B14F-4D97-AF65-F5344CB8AC3E}">
        <p14:creationId xmlns:p14="http://schemas.microsoft.com/office/powerpoint/2010/main" val="373179255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DC0465-9299-4B37-A33F-42BA906DAE8A}"/>
              </a:ext>
            </a:extLst>
          </p:cNvPr>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7/24/2026</a:t>
            </a:fld>
            <a:endParaRPr lang="en-US"/>
          </a:p>
        </p:txBody>
      </p:sp>
      <p:sp>
        <p:nvSpPr>
          <p:cNvPr id="5" name="Footer Placeholder 4">
            <a:extLst>
              <a:ext uri="{FF2B5EF4-FFF2-40B4-BE49-F238E27FC236}">
                <a16:creationId xmlns:a16="http://schemas.microsoft.com/office/drawing/2014/main" id="{0730C887-EDD3-46E9-98FC-AC9603D2E8B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ED05DA8-FB2A-4538-B2DC-D6BD18B56D36}"/>
              </a:ext>
            </a:extLst>
          </p:cNvPr>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3847381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95E7F-EED2-4296-BAAF-35F3F04D6DD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FA6CB27-3FB5-49FF-91EA-684D33BD84A3}"/>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00EBFD-ECF3-49E6-8541-B72D1D90BA9B}"/>
              </a:ext>
            </a:extLst>
          </p:cNvPr>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7/24/2026</a:t>
            </a:fld>
            <a:endParaRPr lang="en-US"/>
          </a:p>
        </p:txBody>
      </p:sp>
      <p:sp>
        <p:nvSpPr>
          <p:cNvPr id="5" name="Footer Placeholder 4">
            <a:extLst>
              <a:ext uri="{FF2B5EF4-FFF2-40B4-BE49-F238E27FC236}">
                <a16:creationId xmlns:a16="http://schemas.microsoft.com/office/drawing/2014/main" id="{49206D40-08BA-4BE2-9845-2C72F7FDCF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77253BD-107C-4F2A-8A8B-ED122A446449}"/>
              </a:ext>
            </a:extLst>
          </p:cNvPr>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2931757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D7CE8-1B18-42CF-BB52-3D7B1335ABA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0E99E7-53C4-4E1E-927F-F9ECF6B1FDAE}"/>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F1B4E6-4982-4C66-8E88-E6C7F9942C7C}"/>
              </a:ext>
            </a:extLst>
          </p:cNvPr>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7/24/2026</a:t>
            </a:fld>
            <a:endParaRPr lang="en-US"/>
          </a:p>
        </p:txBody>
      </p:sp>
      <p:sp>
        <p:nvSpPr>
          <p:cNvPr id="5" name="Footer Placeholder 4">
            <a:extLst>
              <a:ext uri="{FF2B5EF4-FFF2-40B4-BE49-F238E27FC236}">
                <a16:creationId xmlns:a16="http://schemas.microsoft.com/office/drawing/2014/main" id="{96801E3B-1C0A-44A9-83B3-3C5D00EF99B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DF4647C-4CE1-4E46-87E1-E0ED13D3E587}"/>
              </a:ext>
            </a:extLst>
          </p:cNvPr>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2545207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145A4-0984-44DE-B6A5-491C138415D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4EF61229-10E5-420F-9819-A3B6F869727A}"/>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F87DC4-75B7-48B4-A525-0080AEF66059}"/>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B3851E-3BE5-4976-A4EF-8DB94237C9F1}"/>
              </a:ext>
            </a:extLst>
          </p:cNvPr>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7/24/2026</a:t>
            </a:fld>
            <a:endParaRPr lang="en-US"/>
          </a:p>
        </p:txBody>
      </p:sp>
      <p:sp>
        <p:nvSpPr>
          <p:cNvPr id="6" name="Footer Placeholder 5">
            <a:extLst>
              <a:ext uri="{FF2B5EF4-FFF2-40B4-BE49-F238E27FC236}">
                <a16:creationId xmlns:a16="http://schemas.microsoft.com/office/drawing/2014/main" id="{FBCD0BC7-9C30-454D-BDC7-F8040C4945B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90A25BC-736C-4660-B4EE-96C46135A956}"/>
              </a:ext>
            </a:extLst>
          </p:cNvPr>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1332973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C9FB-A15D-4035-BDAC-E7EC8469FED2}"/>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C9B3EAD-2F48-48C3-B8B5-AC389E942F79}"/>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51BFC7-7284-46CD-982C-11148C3DF344}"/>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FB89C1-9E2A-48C9-8029-0FF4ECCCABBD}"/>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0B0256-B9F8-4132-A114-3EF4CD3F6B1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C0960E-15DF-43EF-822E-E08A7CADED08}"/>
              </a:ext>
            </a:extLst>
          </p:cNvPr>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7/24/2026</a:t>
            </a:fld>
            <a:endParaRPr lang="en-US"/>
          </a:p>
        </p:txBody>
      </p:sp>
      <p:sp>
        <p:nvSpPr>
          <p:cNvPr id="8" name="Footer Placeholder 7">
            <a:extLst>
              <a:ext uri="{FF2B5EF4-FFF2-40B4-BE49-F238E27FC236}">
                <a16:creationId xmlns:a16="http://schemas.microsoft.com/office/drawing/2014/main" id="{B7CF5CC6-BD52-4068-88DA-08296131DA0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59EF8A0-3548-4179-A5EC-A1B7B1DFA8BA}"/>
              </a:ext>
            </a:extLst>
          </p:cNvPr>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3380487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C58A0-9BD0-4BAB-98E1-E00DF3089C3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2F80FC45-A592-4E16-AA59-81C78479FA22}"/>
              </a:ext>
            </a:extLst>
          </p:cNvPr>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7/24/2026</a:t>
            </a:fld>
            <a:endParaRPr lang="en-US"/>
          </a:p>
        </p:txBody>
      </p:sp>
      <p:sp>
        <p:nvSpPr>
          <p:cNvPr id="4" name="Footer Placeholder 3">
            <a:extLst>
              <a:ext uri="{FF2B5EF4-FFF2-40B4-BE49-F238E27FC236}">
                <a16:creationId xmlns:a16="http://schemas.microsoft.com/office/drawing/2014/main" id="{26E37703-0380-4B68-9BAD-0A7C05834B9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A070022-E7EB-443B-A873-722AEE7A2C67}"/>
              </a:ext>
            </a:extLst>
          </p:cNvPr>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1898263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4636AA-D982-4A39-B74B-4196AAACBC72}"/>
              </a:ext>
            </a:extLst>
          </p:cNvPr>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7/24/2026</a:t>
            </a:fld>
            <a:endParaRPr lang="en-US"/>
          </a:p>
        </p:txBody>
      </p:sp>
      <p:sp>
        <p:nvSpPr>
          <p:cNvPr id="3" name="Footer Placeholder 2">
            <a:extLst>
              <a:ext uri="{FF2B5EF4-FFF2-40B4-BE49-F238E27FC236}">
                <a16:creationId xmlns:a16="http://schemas.microsoft.com/office/drawing/2014/main" id="{946311F6-099C-4CFD-81DA-09C90F243B3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609E8A6-74C1-459B-829D-5E0F586293E5}"/>
              </a:ext>
            </a:extLst>
          </p:cNvPr>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988922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AA570-7F59-4C97-899A-73B6A7E8EB6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C83765-4FD5-48AB-B4ED-8459758A795F}"/>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3C061F-1C9E-438F-817E-A2125F4799F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6E3CAA-3A72-4DD9-B64A-34C9E04FB311}"/>
              </a:ext>
            </a:extLst>
          </p:cNvPr>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7/24/2026</a:t>
            </a:fld>
            <a:endParaRPr lang="en-US"/>
          </a:p>
        </p:txBody>
      </p:sp>
      <p:sp>
        <p:nvSpPr>
          <p:cNvPr id="6" name="Footer Placeholder 5">
            <a:extLst>
              <a:ext uri="{FF2B5EF4-FFF2-40B4-BE49-F238E27FC236}">
                <a16:creationId xmlns:a16="http://schemas.microsoft.com/office/drawing/2014/main" id="{4EF8AA7F-00E2-4E7E-B319-1B86FE5006B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017671F-386F-4997-B518-3A404A8041FE}"/>
              </a:ext>
            </a:extLst>
          </p:cNvPr>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1423510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FBF7B-327E-4C60-AE5B-D47C0FCED32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855F41-276F-40AE-978B-AD67E0501BC5}"/>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FEACF3-F367-4327-944C-15A6F8CF9F9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F7B838-A476-4F03-ADDC-AAA1C3F73F9B}"/>
              </a:ext>
            </a:extLst>
          </p:cNvPr>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7/24/2026</a:t>
            </a:fld>
            <a:endParaRPr lang="en-US"/>
          </a:p>
        </p:txBody>
      </p:sp>
      <p:sp>
        <p:nvSpPr>
          <p:cNvPr id="6" name="Footer Placeholder 5">
            <a:extLst>
              <a:ext uri="{FF2B5EF4-FFF2-40B4-BE49-F238E27FC236}">
                <a16:creationId xmlns:a16="http://schemas.microsoft.com/office/drawing/2014/main" id="{8536EC93-23B9-4021-B88F-98F7EE0D3F9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52BBCD7-52C9-4D6E-B8CC-88CF46A8DB81}"/>
              </a:ext>
            </a:extLst>
          </p:cNvPr>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1172458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3790D-FAAA-4F65-B396-22B3212A89D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794B99-8758-44A3-9F73-3D3952F43D3D}"/>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D28494-DE17-448D-9F06-07BF996D1A67}"/>
              </a:ext>
            </a:extLst>
          </p:cNvPr>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7/24/2026</a:t>
            </a:fld>
            <a:endParaRPr lang="en-US"/>
          </a:p>
        </p:txBody>
      </p:sp>
      <p:sp>
        <p:nvSpPr>
          <p:cNvPr id="5" name="Footer Placeholder 4">
            <a:extLst>
              <a:ext uri="{FF2B5EF4-FFF2-40B4-BE49-F238E27FC236}">
                <a16:creationId xmlns:a16="http://schemas.microsoft.com/office/drawing/2014/main" id="{EB278111-AC6D-4F2D-9C08-60EDF09643D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69B6F54-876C-41F4-909F-E002709D40EA}"/>
              </a:ext>
            </a:extLst>
          </p:cNvPr>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188776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4EBA55-6DAC-41C1-A215-92AEC8244747}"/>
              </a:ext>
            </a:extLst>
          </p:cNvPr>
          <p:cNvSpPr>
            <a:spLocks noGrp="1"/>
          </p:cNvSpPr>
          <p:nvPr>
            <p:ph type="title" orient="vert"/>
          </p:nvPr>
        </p:nvSpPr>
        <p:spPr>
          <a:xfrm>
            <a:off x="8724900" y="365125"/>
            <a:ext cx="2628900" cy="5811838"/>
          </a:xfrm>
          <a:prstGeom prst="rect">
            <a:avLst/>
          </a:prstGeo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8D0B6EB3-638A-4A0E-9BF8-81076764FC28}"/>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379F35-5220-4268-B657-DAD2965EDFC6}"/>
              </a:ext>
            </a:extLst>
          </p:cNvPr>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7/24/2026</a:t>
            </a:fld>
            <a:endParaRPr lang="en-US"/>
          </a:p>
        </p:txBody>
      </p:sp>
      <p:sp>
        <p:nvSpPr>
          <p:cNvPr id="5" name="Footer Placeholder 4">
            <a:extLst>
              <a:ext uri="{FF2B5EF4-FFF2-40B4-BE49-F238E27FC236}">
                <a16:creationId xmlns:a16="http://schemas.microsoft.com/office/drawing/2014/main" id="{FACB6C6E-499A-4554-BE10-BF5E935AFE4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8D6C2F9-B13B-4BD8-9022-44C8C77CD570}"/>
              </a:ext>
            </a:extLst>
          </p:cNvPr>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1118100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7F0A9-F0F1-4F3B-9F54-20BD5473993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622640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63CD2-54F3-4911-A4BA-25D2645C152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3047220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7B96-C006-4A3C-BA31-223343FE7B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9F42DA-4A11-4C05-AC91-0E5025C098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76C9F7-EE7B-45B5-92F8-F6FB68B9759A}"/>
              </a:ext>
            </a:extLst>
          </p:cNvPr>
          <p:cNvSpPr>
            <a:spLocks noGrp="1"/>
          </p:cNvSpPr>
          <p:nvPr>
            <p:ph type="dt" sz="half" idx="10"/>
          </p:nvPr>
        </p:nvSpPr>
        <p:spPr/>
        <p:txBody>
          <a:bodyPr/>
          <a:lstStyle/>
          <a:p>
            <a:fld id="{5FADDBA6-7898-4A7E-81D8-4315F9153EB6}" type="datetimeFigureOut">
              <a:rPr lang="en-US" smtClean="0"/>
              <a:t>7/24/2026</a:t>
            </a:fld>
            <a:endParaRPr lang="en-US"/>
          </a:p>
        </p:txBody>
      </p:sp>
      <p:sp>
        <p:nvSpPr>
          <p:cNvPr id="5" name="Footer Placeholder 4">
            <a:extLst>
              <a:ext uri="{FF2B5EF4-FFF2-40B4-BE49-F238E27FC236}">
                <a16:creationId xmlns:a16="http://schemas.microsoft.com/office/drawing/2014/main" id="{25428F88-493D-4AD4-A9DD-270BF6F401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FA8B7A-2C06-4F53-8401-022FF93189CA}"/>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416034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C7544-BF90-4912-A2D4-2EA768AEC4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7195B0-518F-404B-B2F2-65B3C3045D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9C5BE5-503F-4E1C-A371-DB16B549AD1A}"/>
              </a:ext>
            </a:extLst>
          </p:cNvPr>
          <p:cNvSpPr>
            <a:spLocks noGrp="1"/>
          </p:cNvSpPr>
          <p:nvPr>
            <p:ph type="dt" sz="half" idx="10"/>
          </p:nvPr>
        </p:nvSpPr>
        <p:spPr/>
        <p:txBody>
          <a:bodyPr/>
          <a:lstStyle/>
          <a:p>
            <a:fld id="{5FADDBA6-7898-4A7E-81D8-4315F9153EB6}" type="datetimeFigureOut">
              <a:rPr lang="en-US" smtClean="0"/>
              <a:t>7/24/2026</a:t>
            </a:fld>
            <a:endParaRPr lang="en-US"/>
          </a:p>
        </p:txBody>
      </p:sp>
      <p:sp>
        <p:nvSpPr>
          <p:cNvPr id="5" name="Footer Placeholder 4">
            <a:extLst>
              <a:ext uri="{FF2B5EF4-FFF2-40B4-BE49-F238E27FC236}">
                <a16:creationId xmlns:a16="http://schemas.microsoft.com/office/drawing/2014/main" id="{CBEAEC77-19AA-457D-AABF-3FD2E2E1E6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7AFDE1-F81B-4F44-93B2-6F7761561B0F}"/>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2607303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871A4-DCF1-432B-AB13-DFE30BD38D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A562C1-F527-4E56-A7A7-757B0F3AAB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021889-5714-423D-84C6-5DDF325E5756}"/>
              </a:ext>
            </a:extLst>
          </p:cNvPr>
          <p:cNvSpPr>
            <a:spLocks noGrp="1"/>
          </p:cNvSpPr>
          <p:nvPr>
            <p:ph type="dt" sz="half" idx="10"/>
          </p:nvPr>
        </p:nvSpPr>
        <p:spPr/>
        <p:txBody>
          <a:bodyPr/>
          <a:lstStyle/>
          <a:p>
            <a:fld id="{5FADDBA6-7898-4A7E-81D8-4315F9153EB6}" type="datetimeFigureOut">
              <a:rPr lang="en-US" smtClean="0"/>
              <a:t>7/24/2026</a:t>
            </a:fld>
            <a:endParaRPr lang="en-US"/>
          </a:p>
        </p:txBody>
      </p:sp>
      <p:sp>
        <p:nvSpPr>
          <p:cNvPr id="5" name="Footer Placeholder 4">
            <a:extLst>
              <a:ext uri="{FF2B5EF4-FFF2-40B4-BE49-F238E27FC236}">
                <a16:creationId xmlns:a16="http://schemas.microsoft.com/office/drawing/2014/main" id="{A7ED31D6-15A8-4887-94DC-4727976CF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80C9C0-7EF4-4D11-9D09-C5DECE3DF773}"/>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40387742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392AA-0DBA-4F17-B4AE-537AB1F531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040F16-D7F9-4C44-80D0-F788433E00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A3BE7E-3EB8-4532-83BC-648B74F71D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05C197-0A30-4C70-97EB-33971FEC51E0}"/>
              </a:ext>
            </a:extLst>
          </p:cNvPr>
          <p:cNvSpPr>
            <a:spLocks noGrp="1"/>
          </p:cNvSpPr>
          <p:nvPr>
            <p:ph type="dt" sz="half" idx="10"/>
          </p:nvPr>
        </p:nvSpPr>
        <p:spPr/>
        <p:txBody>
          <a:bodyPr/>
          <a:lstStyle/>
          <a:p>
            <a:fld id="{5FADDBA6-7898-4A7E-81D8-4315F9153EB6}" type="datetimeFigureOut">
              <a:rPr lang="en-US" smtClean="0"/>
              <a:t>7/24/2026</a:t>
            </a:fld>
            <a:endParaRPr lang="en-US"/>
          </a:p>
        </p:txBody>
      </p:sp>
      <p:sp>
        <p:nvSpPr>
          <p:cNvPr id="6" name="Footer Placeholder 5">
            <a:extLst>
              <a:ext uri="{FF2B5EF4-FFF2-40B4-BE49-F238E27FC236}">
                <a16:creationId xmlns:a16="http://schemas.microsoft.com/office/drawing/2014/main" id="{47CF125A-4C92-4852-8DB6-0365509119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9C217C-1C08-472F-8A9D-58F0BB209BB9}"/>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695124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83EC6-C4CA-4243-833E-1220D46CDF0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364F96-0050-44F6-B980-24ED38F502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1C37B-7648-46AF-B7D8-EA454657E8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0D4124-9B7F-4DF5-8F14-F37DDAE995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188776-5579-401B-86F9-0E6C5524E1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19D0DD-507E-4B04-A88E-82A66A0FCD8E}"/>
              </a:ext>
            </a:extLst>
          </p:cNvPr>
          <p:cNvSpPr>
            <a:spLocks noGrp="1"/>
          </p:cNvSpPr>
          <p:nvPr>
            <p:ph type="dt" sz="half" idx="10"/>
          </p:nvPr>
        </p:nvSpPr>
        <p:spPr/>
        <p:txBody>
          <a:bodyPr/>
          <a:lstStyle/>
          <a:p>
            <a:fld id="{5FADDBA6-7898-4A7E-81D8-4315F9153EB6}" type="datetimeFigureOut">
              <a:rPr lang="en-US" smtClean="0"/>
              <a:t>7/24/2026</a:t>
            </a:fld>
            <a:endParaRPr lang="en-US"/>
          </a:p>
        </p:txBody>
      </p:sp>
      <p:sp>
        <p:nvSpPr>
          <p:cNvPr id="8" name="Footer Placeholder 7">
            <a:extLst>
              <a:ext uri="{FF2B5EF4-FFF2-40B4-BE49-F238E27FC236}">
                <a16:creationId xmlns:a16="http://schemas.microsoft.com/office/drawing/2014/main" id="{67F020DB-8AC4-4ABF-B59F-53E8696208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A754D8-9E43-445B-ADAF-9B9BE7998707}"/>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6522212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AA141-0515-49B5-ADAE-60861A7B1E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013609-D5AD-46E2-AB13-457E793FE315}"/>
              </a:ext>
            </a:extLst>
          </p:cNvPr>
          <p:cNvSpPr>
            <a:spLocks noGrp="1"/>
          </p:cNvSpPr>
          <p:nvPr>
            <p:ph type="dt" sz="half" idx="10"/>
          </p:nvPr>
        </p:nvSpPr>
        <p:spPr/>
        <p:txBody>
          <a:bodyPr/>
          <a:lstStyle/>
          <a:p>
            <a:fld id="{5FADDBA6-7898-4A7E-81D8-4315F9153EB6}" type="datetimeFigureOut">
              <a:rPr lang="en-US" smtClean="0"/>
              <a:t>7/24/2026</a:t>
            </a:fld>
            <a:endParaRPr lang="en-US"/>
          </a:p>
        </p:txBody>
      </p:sp>
      <p:sp>
        <p:nvSpPr>
          <p:cNvPr id="4" name="Footer Placeholder 3">
            <a:extLst>
              <a:ext uri="{FF2B5EF4-FFF2-40B4-BE49-F238E27FC236}">
                <a16:creationId xmlns:a16="http://schemas.microsoft.com/office/drawing/2014/main" id="{84D4CCFE-8B29-49E5-AE12-A2B6FE3187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E588EF-7A1F-47D5-974D-D1DA36AF1FAF}"/>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1631266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4546AD-389C-496B-93DF-1F6CA5CDC2F0}"/>
              </a:ext>
            </a:extLst>
          </p:cNvPr>
          <p:cNvSpPr>
            <a:spLocks noGrp="1"/>
          </p:cNvSpPr>
          <p:nvPr>
            <p:ph type="dt" sz="half" idx="10"/>
          </p:nvPr>
        </p:nvSpPr>
        <p:spPr/>
        <p:txBody>
          <a:bodyPr/>
          <a:lstStyle/>
          <a:p>
            <a:fld id="{5FADDBA6-7898-4A7E-81D8-4315F9153EB6}" type="datetimeFigureOut">
              <a:rPr lang="en-US" smtClean="0"/>
              <a:t>7/24/2026</a:t>
            </a:fld>
            <a:endParaRPr lang="en-US"/>
          </a:p>
        </p:txBody>
      </p:sp>
      <p:sp>
        <p:nvSpPr>
          <p:cNvPr id="3" name="Footer Placeholder 2">
            <a:extLst>
              <a:ext uri="{FF2B5EF4-FFF2-40B4-BE49-F238E27FC236}">
                <a16:creationId xmlns:a16="http://schemas.microsoft.com/office/drawing/2014/main" id="{2355FA69-E77D-4254-AD44-A03EF55A30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AE8BF2-A0B1-4C3F-8B41-0BBAC94077CF}"/>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9391523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00A7D-D141-4D66-9B7E-F840569547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9F6D22-30C7-48AC-A8FA-1912C22F6C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AE7671-CD0A-47C3-97ED-F11FC72BA5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BD8E48-F103-4A77-AA25-960198692D7A}"/>
              </a:ext>
            </a:extLst>
          </p:cNvPr>
          <p:cNvSpPr>
            <a:spLocks noGrp="1"/>
          </p:cNvSpPr>
          <p:nvPr>
            <p:ph type="dt" sz="half" idx="10"/>
          </p:nvPr>
        </p:nvSpPr>
        <p:spPr/>
        <p:txBody>
          <a:bodyPr/>
          <a:lstStyle/>
          <a:p>
            <a:fld id="{5FADDBA6-7898-4A7E-81D8-4315F9153EB6}" type="datetimeFigureOut">
              <a:rPr lang="en-US" smtClean="0"/>
              <a:t>7/24/2026</a:t>
            </a:fld>
            <a:endParaRPr lang="en-US"/>
          </a:p>
        </p:txBody>
      </p:sp>
      <p:sp>
        <p:nvSpPr>
          <p:cNvPr id="6" name="Footer Placeholder 5">
            <a:extLst>
              <a:ext uri="{FF2B5EF4-FFF2-40B4-BE49-F238E27FC236}">
                <a16:creationId xmlns:a16="http://schemas.microsoft.com/office/drawing/2014/main" id="{E6D75E5A-5245-4094-A130-6461BA459A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65ACE9-75D8-446D-B8B3-0F62063B0141}"/>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3678699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0E892-AEFF-4D21-AA01-642845D54D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0A2EC3-5CFF-4B76-857A-FD48E3166B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F87A4D-8795-41F4-86D8-8AA6AAF751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5DC4FB-0E2A-47D5-B812-5DFA6351B066}"/>
              </a:ext>
            </a:extLst>
          </p:cNvPr>
          <p:cNvSpPr>
            <a:spLocks noGrp="1"/>
          </p:cNvSpPr>
          <p:nvPr>
            <p:ph type="dt" sz="half" idx="10"/>
          </p:nvPr>
        </p:nvSpPr>
        <p:spPr/>
        <p:txBody>
          <a:bodyPr/>
          <a:lstStyle/>
          <a:p>
            <a:fld id="{5FADDBA6-7898-4A7E-81D8-4315F9153EB6}" type="datetimeFigureOut">
              <a:rPr lang="en-US" smtClean="0"/>
              <a:t>7/24/2026</a:t>
            </a:fld>
            <a:endParaRPr lang="en-US"/>
          </a:p>
        </p:txBody>
      </p:sp>
      <p:sp>
        <p:nvSpPr>
          <p:cNvPr id="6" name="Footer Placeholder 5">
            <a:extLst>
              <a:ext uri="{FF2B5EF4-FFF2-40B4-BE49-F238E27FC236}">
                <a16:creationId xmlns:a16="http://schemas.microsoft.com/office/drawing/2014/main" id="{316049A7-FA66-4875-AE38-BCD2040CDF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A3266-5C70-4880-9411-628D5AD151F1}"/>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392372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5AD01-715B-40EC-863A-B33360AC2D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14FD9D-1626-4632-8C79-D1001B23AC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4126D4-18C6-4970-96FD-66BE53ABACB6}"/>
              </a:ext>
            </a:extLst>
          </p:cNvPr>
          <p:cNvSpPr>
            <a:spLocks noGrp="1"/>
          </p:cNvSpPr>
          <p:nvPr>
            <p:ph type="dt" sz="half" idx="10"/>
          </p:nvPr>
        </p:nvSpPr>
        <p:spPr/>
        <p:txBody>
          <a:bodyPr/>
          <a:lstStyle/>
          <a:p>
            <a:fld id="{5FADDBA6-7898-4A7E-81D8-4315F9153EB6}" type="datetimeFigureOut">
              <a:rPr lang="en-US" smtClean="0"/>
              <a:t>7/24/2026</a:t>
            </a:fld>
            <a:endParaRPr lang="en-US"/>
          </a:p>
        </p:txBody>
      </p:sp>
      <p:sp>
        <p:nvSpPr>
          <p:cNvPr id="5" name="Footer Placeholder 4">
            <a:extLst>
              <a:ext uri="{FF2B5EF4-FFF2-40B4-BE49-F238E27FC236}">
                <a16:creationId xmlns:a16="http://schemas.microsoft.com/office/drawing/2014/main" id="{D3A0F2CD-6993-4DF8-B595-B70AB3305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7B925A-B1AF-46B8-856B-6264F5BDA332}"/>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769360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A41A68-3AE3-4A8C-B5AC-927776FFF4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BAC105-CB82-4BBA-A333-BC077ACDB4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194E19-576C-4CEC-B54C-9BBB7E99184A}"/>
              </a:ext>
            </a:extLst>
          </p:cNvPr>
          <p:cNvSpPr>
            <a:spLocks noGrp="1"/>
          </p:cNvSpPr>
          <p:nvPr>
            <p:ph type="dt" sz="half" idx="10"/>
          </p:nvPr>
        </p:nvSpPr>
        <p:spPr/>
        <p:txBody>
          <a:bodyPr/>
          <a:lstStyle/>
          <a:p>
            <a:fld id="{5FADDBA6-7898-4A7E-81D8-4315F9153EB6}" type="datetimeFigureOut">
              <a:rPr lang="en-US" smtClean="0"/>
              <a:t>7/24/2026</a:t>
            </a:fld>
            <a:endParaRPr lang="en-US"/>
          </a:p>
        </p:txBody>
      </p:sp>
      <p:sp>
        <p:nvSpPr>
          <p:cNvPr id="5" name="Footer Placeholder 4">
            <a:extLst>
              <a:ext uri="{FF2B5EF4-FFF2-40B4-BE49-F238E27FC236}">
                <a16:creationId xmlns:a16="http://schemas.microsoft.com/office/drawing/2014/main" id="{45180759-AC5C-4C9F-947F-3906EE5BEE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CDA37C-A04D-4757-B31D-B8F0BD71FCE7}"/>
              </a:ext>
            </a:extLst>
          </p:cNvPr>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069708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3B075C-4FC9-4D4D-9BEF-ADD5639DFC3E}"/>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964487" y="74813"/>
            <a:ext cx="1012767" cy="1012767"/>
          </a:xfrm>
          <a:prstGeom prst="rect">
            <a:avLst/>
          </a:prstGeom>
        </p:spPr>
      </p:pic>
      <p:pic>
        <p:nvPicPr>
          <p:cNvPr id="3" name="Picture 2">
            <a:extLst>
              <a:ext uri="{FF2B5EF4-FFF2-40B4-BE49-F238E27FC236}">
                <a16:creationId xmlns:a16="http://schemas.microsoft.com/office/drawing/2014/main" id="{1682BD85-C55C-4D9D-8431-B34E2681DBCC}"/>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0" y="6585659"/>
            <a:ext cx="12192000" cy="272341"/>
          </a:xfrm>
          <a:prstGeom prst="rect">
            <a:avLst/>
          </a:prstGeom>
        </p:spPr>
      </p:pic>
      <p:pic>
        <p:nvPicPr>
          <p:cNvPr id="5" name="Picture 4" descr="A black background with grey and green letters&#10;&#10;Description automatically generated">
            <a:extLst>
              <a:ext uri="{FF2B5EF4-FFF2-40B4-BE49-F238E27FC236}">
                <a16:creationId xmlns:a16="http://schemas.microsoft.com/office/drawing/2014/main" id="{62A1B4BB-0FB2-C52E-B4A7-CAA84A80D086}"/>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2023008" y="1304202"/>
            <a:ext cx="8261968" cy="3644697"/>
          </a:xfrm>
          <a:prstGeom prst="rect">
            <a:avLst/>
          </a:prstGeom>
        </p:spPr>
      </p:pic>
    </p:spTree>
    <p:extLst>
      <p:ext uri="{BB962C8B-B14F-4D97-AF65-F5344CB8AC3E}">
        <p14:creationId xmlns:p14="http://schemas.microsoft.com/office/powerpoint/2010/main" val="4012109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293B3D-B666-4DD6-94C9-B0CC4AB167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82178F-E23C-48AB-974D-1F9CF87F84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065A74-4F5C-434F-B428-90F5A5E73C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ADDBA6-7898-4A7E-81D8-4315F9153EB6}" type="datetimeFigureOut">
              <a:rPr lang="en-US" smtClean="0"/>
              <a:t>7/24/2026</a:t>
            </a:fld>
            <a:endParaRPr lang="en-US"/>
          </a:p>
        </p:txBody>
      </p:sp>
      <p:sp>
        <p:nvSpPr>
          <p:cNvPr id="5" name="Footer Placeholder 4">
            <a:extLst>
              <a:ext uri="{FF2B5EF4-FFF2-40B4-BE49-F238E27FC236}">
                <a16:creationId xmlns:a16="http://schemas.microsoft.com/office/drawing/2014/main" id="{F34EAF9B-9667-4531-83B4-303062C4E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D5AF72B-54FF-4BEE-A65B-D4216D569A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E2A7F9-E658-489E-9D02-A8C67FB1B49C}" type="slidenum">
              <a:rPr lang="en-US" smtClean="0"/>
              <a:t>‹#›</a:t>
            </a:fld>
            <a:endParaRPr lang="en-US"/>
          </a:p>
        </p:txBody>
      </p:sp>
    </p:spTree>
    <p:extLst>
      <p:ext uri="{BB962C8B-B14F-4D97-AF65-F5344CB8AC3E}">
        <p14:creationId xmlns:p14="http://schemas.microsoft.com/office/powerpoint/2010/main" val="8412778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lechitam1602-dot/De-tai-28-Gia-mao-thiet-bi-trong-he-thong-IoT.git"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hyperlink" Target="https://cheatsheetseries.owasp.org/" TargetMode="External"/><Relationship Id="rId3" Type="http://schemas.openxmlformats.org/officeDocument/2006/relationships/hyperlink" Target="https://owasp.org/www-project-iot-security-verification-standard/" TargetMode="External"/><Relationship Id="rId7" Type="http://schemas.openxmlformats.org/officeDocument/2006/relationships/hyperlink" Target="https://mbed-tls.readthedocs.io/" TargetMode="External"/><Relationship Id="rId2" Type="http://schemas.openxmlformats.org/officeDocument/2006/relationships/hyperlink" Target="https://github.com/OWASP/IoT-Security-Verification-Standard-ISVS" TargetMode="External"/><Relationship Id="rId1" Type="http://schemas.openxmlformats.org/officeDocument/2006/relationships/slideLayout" Target="../slideLayouts/slideLayout1.xml"/><Relationship Id="rId6" Type="http://schemas.openxmlformats.org/officeDocument/2006/relationships/hyperlink" Target="https://github.com/Mbed-TLS/mbedtls" TargetMode="External"/><Relationship Id="rId5" Type="http://schemas.openxmlformats.org/officeDocument/2006/relationships/hyperlink" Target="https://flask.palletsprojects.com/" TargetMode="External"/><Relationship Id="rId10" Type="http://schemas.openxmlformats.org/officeDocument/2006/relationships/hyperlink" Target="https://cheatsheetseries.owasp.org/cheatsheets/Logging_Cheat_Sheet.html" TargetMode="External"/><Relationship Id="rId4" Type="http://schemas.openxmlformats.org/officeDocument/2006/relationships/hyperlink" Target="https://github.com/pallets/flask" TargetMode="External"/><Relationship Id="rId9" Type="http://schemas.openxmlformats.org/officeDocument/2006/relationships/hyperlink" Target="https://cheatsheetseries.owasp.org/cheatsheets/Transport_Layer_Security_Cheat_Sheet.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0B386-3598-40DE-9461-20A23551F6C1}"/>
              </a:ext>
            </a:extLst>
          </p:cNvPr>
          <p:cNvSpPr>
            <a:spLocks noGrp="1"/>
          </p:cNvSpPr>
          <p:nvPr>
            <p:ph type="title"/>
          </p:nvPr>
        </p:nvSpPr>
        <p:spPr>
          <a:xfrm>
            <a:off x="954532" y="538353"/>
            <a:ext cx="10515600" cy="1325563"/>
          </a:xfrm>
        </p:spPr>
        <p:txBody>
          <a:bodyPr/>
          <a:lstStyle/>
          <a:p>
            <a:pPr marL="0" indent="0"/>
            <a:r>
              <a:rPr lang="vi-VN" sz="3000" b="1"/>
              <a:t>ĐỀ TÀI 28: GIẢ MẠO THIẾT BỊ TRONG HỆ THỐNG IoT</a:t>
            </a:r>
            <a:br>
              <a:rPr lang="vi-VN" b="1"/>
            </a:br>
            <a:endParaRPr lang="en-US" b="1" dirty="0"/>
          </a:p>
        </p:txBody>
      </p:sp>
      <p:sp>
        <p:nvSpPr>
          <p:cNvPr id="3" name="Content Placeholder 2">
            <a:extLst>
              <a:ext uri="{FF2B5EF4-FFF2-40B4-BE49-F238E27FC236}">
                <a16:creationId xmlns:a16="http://schemas.microsoft.com/office/drawing/2014/main" id="{DE1EF0DD-4477-486D-B6CA-09B1B0753281}"/>
              </a:ext>
            </a:extLst>
          </p:cNvPr>
          <p:cNvSpPr>
            <a:spLocks noGrp="1"/>
          </p:cNvSpPr>
          <p:nvPr>
            <p:ph idx="4294967295"/>
          </p:nvPr>
        </p:nvSpPr>
        <p:spPr>
          <a:xfrm>
            <a:off x="954532" y="2486216"/>
            <a:ext cx="10515600" cy="1676527"/>
          </a:xfrm>
          <a:prstGeom prst="rect">
            <a:avLst/>
          </a:prstGeom>
        </p:spPr>
        <p:txBody>
          <a:bodyPr/>
          <a:lstStyle/>
          <a:p>
            <a:pPr marL="0" indent="0">
              <a:lnSpc>
                <a:spcPct val="150000"/>
              </a:lnSpc>
              <a:spcBef>
                <a:spcPts val="0"/>
              </a:spcBef>
              <a:buNone/>
            </a:pPr>
            <a:r>
              <a:rPr lang="vi-VN" sz="2500">
                <a:latin typeface="Times New Roman" panose="02020603050405020304" pitchFamily="18" charset="0"/>
                <a:ea typeface="Tahoma" panose="020B0604030504040204" pitchFamily="34" charset="0"/>
                <a:cs typeface="Times New Roman" panose="02020603050405020304" pitchFamily="18" charset="0"/>
              </a:rPr>
              <a:t>GVHD</a:t>
            </a:r>
            <a:r>
              <a:rPr lang="en-US" sz="2500">
                <a:latin typeface="Times New Roman" panose="02020603050405020304" pitchFamily="18" charset="0"/>
                <a:ea typeface="Tahoma" panose="020B0604030504040204" pitchFamily="34" charset="0"/>
                <a:cs typeface="Times New Roman" panose="02020603050405020304" pitchFamily="18" charset="0"/>
              </a:rPr>
              <a:t>: HỒ NHỰT MINH</a:t>
            </a:r>
            <a:br>
              <a:rPr lang="vi-VN" sz="2500">
                <a:latin typeface="Times New Roman" panose="02020603050405020304" pitchFamily="18" charset="0"/>
                <a:ea typeface="Tahoma" panose="020B0604030504040204" pitchFamily="34" charset="0"/>
                <a:cs typeface="Times New Roman" panose="02020603050405020304" pitchFamily="18" charset="0"/>
              </a:rPr>
            </a:br>
            <a:r>
              <a:rPr lang="vi-VN" sz="2500">
                <a:latin typeface="Times New Roman" panose="02020603050405020304" pitchFamily="18" charset="0"/>
                <a:ea typeface="Tahoma" panose="020B0604030504040204" pitchFamily="34" charset="0"/>
                <a:cs typeface="Times New Roman" panose="02020603050405020304" pitchFamily="18" charset="0"/>
              </a:rPr>
              <a:t>HỌ VÀ TÊN: LÊ CHÍ TÂM</a:t>
            </a:r>
            <a:br>
              <a:rPr lang="vi-VN" sz="2500">
                <a:latin typeface="Times New Roman" panose="02020603050405020304" pitchFamily="18" charset="0"/>
                <a:ea typeface="Tahoma" panose="020B0604030504040204" pitchFamily="34" charset="0"/>
                <a:cs typeface="Times New Roman" panose="02020603050405020304" pitchFamily="18" charset="0"/>
              </a:rPr>
            </a:br>
            <a:r>
              <a:rPr lang="vi-VN" sz="2500">
                <a:latin typeface="Times New Roman" panose="02020603050405020304" pitchFamily="18" charset="0"/>
                <a:ea typeface="Tahoma" panose="020B0604030504040204" pitchFamily="34" charset="0"/>
                <a:cs typeface="Times New Roman" panose="02020603050405020304" pitchFamily="18" charset="0"/>
              </a:rPr>
              <a:t>MSSV: 231A010500</a:t>
            </a:r>
            <a:br>
              <a:rPr lang="vi-VN" sz="2500">
                <a:latin typeface="Times New Roman" panose="02020603050405020304" pitchFamily="18" charset="0"/>
                <a:ea typeface="Tahoma" panose="020B0604030504040204" pitchFamily="34" charset="0"/>
                <a:cs typeface="Times New Roman" panose="02020603050405020304" pitchFamily="18" charset="0"/>
              </a:rPr>
            </a:br>
            <a:r>
              <a:rPr lang="en-US" sz="2500">
                <a:latin typeface="Times New Roman" panose="02020603050405020304" pitchFamily="18" charset="0"/>
                <a:ea typeface="Tahoma" panose="020B0604030504040204" pitchFamily="34" charset="0"/>
                <a:cs typeface="Times New Roman" panose="02020603050405020304" pitchFamily="18" charset="0"/>
              </a:rPr>
              <a:t>LỚP: 253INT441001</a:t>
            </a:r>
            <a:endParaRPr lang="vi-VN" sz="2500">
              <a:latin typeface="Times New Roman" panose="02020603050405020304" pitchFamily="18" charset="0"/>
              <a:ea typeface="Tahoma" panose="020B0604030504040204" pitchFamily="34" charset="0"/>
              <a:cs typeface="Times New Roman" panose="02020603050405020304" pitchFamily="18" charset="0"/>
            </a:endParaRPr>
          </a:p>
          <a:p>
            <a:pPr marL="0" indent="0">
              <a:lnSpc>
                <a:spcPct val="150000"/>
              </a:lnSpc>
              <a:spcBef>
                <a:spcPts val="0"/>
              </a:spcBef>
              <a:buNone/>
            </a:pPr>
            <a:r>
              <a:rPr lang="vi-VN" sz="2500">
                <a:latin typeface="Times New Roman" panose="02020603050405020304" pitchFamily="18" charset="0"/>
                <a:ea typeface="Tahoma" panose="020B0604030504040204" pitchFamily="34" charset="0"/>
                <a:cs typeface="Times New Roman" panose="02020603050405020304" pitchFamily="18" charset="0"/>
              </a:rPr>
              <a:t>LINK GITHUB: </a:t>
            </a:r>
            <a:r>
              <a:rPr lang="vi-VN" sz="2500" u="sng">
                <a:latin typeface="Times New Roman" panose="02020603050405020304" pitchFamily="18" charset="0"/>
                <a:ea typeface="Tahoma" panose="020B060403050404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https://github.com/lechitam1602-dot/De-tai-28-Gia-mao-thiet-bi-trong-he-thong-IoT.git</a:t>
            </a:r>
            <a:endParaRPr lang="en-US" sz="2500" u="sng"/>
          </a:p>
        </p:txBody>
      </p:sp>
    </p:spTree>
    <p:extLst>
      <p:ext uri="{BB962C8B-B14F-4D97-AF65-F5344CB8AC3E}">
        <p14:creationId xmlns:p14="http://schemas.microsoft.com/office/powerpoint/2010/main" val="1397118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3DFA3A-2590-5557-710A-C078CB3A8F56}"/>
              </a:ext>
            </a:extLst>
          </p:cNvPr>
          <p:cNvSpPr txBox="1"/>
          <p:nvPr/>
        </p:nvSpPr>
        <p:spPr>
          <a:xfrm>
            <a:off x="438912" y="867537"/>
            <a:ext cx="10972800" cy="5416868"/>
          </a:xfrm>
          <a:prstGeom prst="rect">
            <a:avLst/>
          </a:prstGeom>
          <a:noFill/>
        </p:spPr>
        <p:txBody>
          <a:bodyPr wrap="square" rtlCol="0">
            <a:spAutoFit/>
          </a:bodyPr>
          <a:lstStyle/>
          <a:p>
            <a:pPr algn="ctr"/>
            <a:r>
              <a:rPr lang="en-US" sz="2800" b="1">
                <a:latin typeface="Times New Roman" panose="02020603050405020304" pitchFamily="18" charset="0"/>
                <a:cs typeface="Times New Roman" panose="02020603050405020304" pitchFamily="18" charset="0"/>
              </a:rPr>
              <a:t>VẤN ĐỀ BẢO MẬT VÀ MỤC TIÊU</a:t>
            </a:r>
          </a:p>
          <a:p>
            <a:pPr algn="just"/>
            <a:r>
              <a:rPr lang="en-US" sz="2500" b="1">
                <a:latin typeface="Times New Roman" panose="02020603050405020304" pitchFamily="18" charset="0"/>
                <a:cs typeface="Times New Roman" panose="02020603050405020304" pitchFamily="18" charset="0"/>
              </a:rPr>
              <a:t>Vấn đề bảo mật</a:t>
            </a:r>
          </a:p>
          <a:p>
            <a:pPr algn="just"/>
            <a:r>
              <a:rPr lang="vi-VN" sz="2500">
                <a:latin typeface="Times New Roman" panose="02020603050405020304" pitchFamily="18" charset="0"/>
                <a:cs typeface="Times New Roman" panose="02020603050405020304" pitchFamily="18" charset="0"/>
              </a:rPr>
              <a:t>	</a:t>
            </a:r>
            <a:r>
              <a:rPr lang="en-US" sz="2500">
                <a:latin typeface="Times New Roman" panose="02020603050405020304" pitchFamily="18" charset="0"/>
                <a:cs typeface="Times New Roman" panose="02020603050405020304" pitchFamily="18" charset="0"/>
              </a:rPr>
              <a:t>Trong hệ thống Internet of Things (IoT), các thiết bị thường xuyên trao đổi dữ liệu với máy chủ thông qua Internet. Nếu không có cơ chế xác thực phù hợp, kẻ tấn công có thể giả mạo thiết bị hợp lệ (Device Spoofing) để gửi dữ liệu sai lệch,</a:t>
            </a:r>
            <a:r>
              <a:rPr lang="vi-VN" sz="2500">
                <a:latin typeface="Times New Roman" panose="02020603050405020304" pitchFamily="18" charset="0"/>
                <a:cs typeface="Times New Roman" panose="02020603050405020304" pitchFamily="18" charset="0"/>
              </a:rPr>
              <a:t> </a:t>
            </a:r>
            <a:r>
              <a:rPr lang="en-US" sz="2500">
                <a:latin typeface="Times New Roman" panose="02020603050405020304" pitchFamily="18" charset="0"/>
                <a:cs typeface="Times New Roman" panose="02020603050405020304" pitchFamily="18" charset="0"/>
              </a:rPr>
              <a:t>ảnh hưởng đến tính toàn vẹn và độ tin cậy của hệ thống.</a:t>
            </a:r>
          </a:p>
          <a:p>
            <a:pPr algn="just"/>
            <a:r>
              <a:rPr lang="en-US" sz="2500" b="1">
                <a:latin typeface="Times New Roman" panose="02020603050405020304" pitchFamily="18" charset="0"/>
                <a:cs typeface="Times New Roman" panose="02020603050405020304" pitchFamily="18" charset="0"/>
              </a:rPr>
              <a:t>Mục tiêu</a:t>
            </a:r>
          </a:p>
          <a:p>
            <a:pPr marL="800100" lvl="1" indent="-342900" algn="just">
              <a:buFont typeface="+mj-lt"/>
              <a:buAutoNum type="arabicPeriod"/>
            </a:pPr>
            <a:r>
              <a:rPr lang="en-US" sz="2500">
                <a:latin typeface="Times New Roman" panose="02020603050405020304" pitchFamily="18" charset="0"/>
                <a:cs typeface="Times New Roman" panose="02020603050405020304" pitchFamily="18" charset="0"/>
              </a:rPr>
              <a:t>Phân tích nguy cơ giả mạo thiết bị IoT. </a:t>
            </a:r>
          </a:p>
          <a:p>
            <a:pPr marL="800100" lvl="1" indent="-342900" algn="just">
              <a:buFont typeface="+mj-lt"/>
              <a:buAutoNum type="arabicPeriod"/>
            </a:pPr>
            <a:r>
              <a:rPr lang="en-US" sz="2500">
                <a:latin typeface="Times New Roman" panose="02020603050405020304" pitchFamily="18" charset="0"/>
                <a:cs typeface="Times New Roman" panose="02020603050405020304" pitchFamily="18" charset="0"/>
              </a:rPr>
              <a:t>Xây dựng Flask REST API tiếp nhận dữ liệu. </a:t>
            </a:r>
          </a:p>
          <a:p>
            <a:pPr marL="800100" lvl="1" indent="-342900" algn="just">
              <a:buFont typeface="+mj-lt"/>
              <a:buAutoNum type="arabicPeriod"/>
            </a:pPr>
            <a:r>
              <a:rPr lang="en-US" sz="2500">
                <a:latin typeface="Times New Roman" panose="02020603050405020304" pitchFamily="18" charset="0"/>
                <a:cs typeface="Times New Roman" panose="02020603050405020304" pitchFamily="18" charset="0"/>
              </a:rPr>
              <a:t>Xác thực Device ID và Token. </a:t>
            </a:r>
          </a:p>
          <a:p>
            <a:pPr marL="800100" lvl="1" indent="-342900" algn="just">
              <a:buFont typeface="+mj-lt"/>
              <a:buAutoNum type="arabicPeriod"/>
            </a:pPr>
            <a:r>
              <a:rPr lang="en-US" sz="2500">
                <a:latin typeface="Times New Roman" panose="02020603050405020304" pitchFamily="18" charset="0"/>
                <a:cs typeface="Times New Roman" panose="02020603050405020304" pitchFamily="18" charset="0"/>
              </a:rPr>
              <a:t>Quản lý danh sách thiết bị bằng devices.json. </a:t>
            </a:r>
          </a:p>
          <a:p>
            <a:pPr marL="800100" lvl="1" indent="-342900" algn="just">
              <a:buFont typeface="+mj-lt"/>
              <a:buAutoNum type="arabicPeriod"/>
            </a:pPr>
            <a:r>
              <a:rPr lang="en-US" sz="2500">
                <a:latin typeface="Times New Roman" panose="02020603050405020304" pitchFamily="18" charset="0"/>
                <a:cs typeface="Times New Roman" panose="02020603050405020304" pitchFamily="18" charset="0"/>
              </a:rPr>
              <a:t>Ghi nhật ký (Logging). </a:t>
            </a:r>
          </a:p>
          <a:p>
            <a:pPr marL="800100" lvl="1" indent="-342900" algn="just">
              <a:buFont typeface="+mj-lt"/>
              <a:buAutoNum type="arabicPeriod"/>
            </a:pPr>
            <a:r>
              <a:rPr lang="en-US" sz="2500">
                <a:latin typeface="Times New Roman" panose="02020603050405020304" pitchFamily="18" charset="0"/>
                <a:cs typeface="Times New Roman" panose="02020603050405020304" pitchFamily="18" charset="0"/>
              </a:rPr>
              <a:t>Đánh</a:t>
            </a:r>
            <a:r>
              <a:rPr lang="vi-VN" sz="2500">
                <a:latin typeface="Times New Roman" panose="02020603050405020304" pitchFamily="18" charset="0"/>
                <a:cs typeface="Times New Roman" panose="02020603050405020304" pitchFamily="18" charset="0"/>
              </a:rPr>
              <a:t> </a:t>
            </a:r>
            <a:r>
              <a:rPr lang="en-US" sz="2500">
                <a:latin typeface="Times New Roman" panose="02020603050405020304" pitchFamily="18" charset="0"/>
                <a:cs typeface="Times New Roman" panose="02020603050405020304" pitchFamily="18" charset="0"/>
              </a:rPr>
              <a:t>giá hiệu quả cơ chế xác thực.</a:t>
            </a:r>
          </a:p>
          <a:p>
            <a:endParaRPr lang="en-US"/>
          </a:p>
        </p:txBody>
      </p:sp>
    </p:spTree>
    <p:extLst>
      <p:ext uri="{BB962C8B-B14F-4D97-AF65-F5344CB8AC3E}">
        <p14:creationId xmlns:p14="http://schemas.microsoft.com/office/powerpoint/2010/main" val="3665848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BE6892-56A0-9AD2-4E09-7F31148AFF05}"/>
              </a:ext>
            </a:extLst>
          </p:cNvPr>
          <p:cNvSpPr txBox="1"/>
          <p:nvPr/>
        </p:nvSpPr>
        <p:spPr>
          <a:xfrm>
            <a:off x="886406" y="0"/>
            <a:ext cx="10419187" cy="3493264"/>
          </a:xfrm>
          <a:prstGeom prst="rect">
            <a:avLst/>
          </a:prstGeom>
          <a:noFill/>
        </p:spPr>
        <p:txBody>
          <a:bodyPr wrap="square" rtlCol="0">
            <a:spAutoFit/>
          </a:bodyPr>
          <a:lstStyle/>
          <a:p>
            <a:pPr algn="ctr"/>
            <a:r>
              <a:rPr lang="en-US" sz="2800" b="1">
                <a:latin typeface="Times New Roman" panose="02020603050405020304" pitchFamily="18" charset="0"/>
                <a:cs typeface="Times New Roman" panose="02020603050405020304" pitchFamily="18" charset="0"/>
              </a:rPr>
              <a:t>KIẾN THỨC NỀN VÀ CÔNG CỤ</a:t>
            </a:r>
            <a:endParaRPr lang="vi-VN" sz="2800" b="1">
              <a:latin typeface="Times New Roman" panose="02020603050405020304" pitchFamily="18" charset="0"/>
              <a:cs typeface="Times New Roman" panose="02020603050405020304" pitchFamily="18" charset="0"/>
            </a:endParaRPr>
          </a:p>
          <a:p>
            <a:pPr algn="just"/>
            <a:r>
              <a:rPr lang="vi-VN" sz="2500">
                <a:latin typeface="Times New Roman" panose="02020603050405020304" pitchFamily="18" charset="0"/>
                <a:cs typeface="Times New Roman" panose="02020603050405020304" pitchFamily="18" charset="0"/>
              </a:rPr>
              <a:t>	</a:t>
            </a:r>
            <a:r>
              <a:rPr lang="en-US" sz="2500">
                <a:latin typeface="Times New Roman" panose="02020603050405020304" pitchFamily="18" charset="0"/>
                <a:cs typeface="Times New Roman" panose="02020603050405020304" pitchFamily="18" charset="0"/>
              </a:rPr>
              <a:t>Đề tài được xây dựng dựa trên mô hình Client–Server, trong đó thiết bị IoT gửi dữ liệu qua HTTP REST API đến máy chủ Flask để kiểm tra và xử lý yêu cầu.</a:t>
            </a:r>
          </a:p>
          <a:p>
            <a:pPr algn="just"/>
            <a:r>
              <a:rPr lang="en-US" sz="2500">
                <a:latin typeface="Times New Roman" panose="02020603050405020304" pitchFamily="18" charset="0"/>
                <a:cs typeface="Times New Roman" panose="02020603050405020304" pitchFamily="18" charset="0"/>
              </a:rPr>
              <a:t>Công nghệ sử dụng</a:t>
            </a:r>
            <a:r>
              <a:rPr lang="vi-VN" sz="2500">
                <a:latin typeface="Times New Roman" panose="02020603050405020304" pitchFamily="18" charset="0"/>
                <a:cs typeface="Times New Roman" panose="02020603050405020304" pitchFamily="18" charset="0"/>
              </a:rPr>
              <a:t>:</a:t>
            </a:r>
            <a:endParaRPr lang="en-US" sz="2500">
              <a:latin typeface="Times New Roman" panose="02020603050405020304" pitchFamily="18" charset="0"/>
              <a:cs typeface="Times New Roman" panose="02020603050405020304" pitchFamily="18" charset="0"/>
            </a:endParaRPr>
          </a:p>
          <a:p>
            <a:pPr marL="342900" indent="-342900" algn="just">
              <a:buFont typeface="Times New Roman" panose="02020603050405020304" pitchFamily="18" charset="0"/>
              <a:buChar char="-"/>
            </a:pPr>
            <a:r>
              <a:rPr lang="en-US" sz="2500">
                <a:latin typeface="Times New Roman" panose="02020603050405020304" pitchFamily="18" charset="0"/>
                <a:cs typeface="Times New Roman" panose="02020603050405020304" pitchFamily="18" charset="0"/>
              </a:rPr>
              <a:t>Python + Flask xây dựng REST API. </a:t>
            </a:r>
          </a:p>
          <a:p>
            <a:pPr marL="342900" indent="-342900" algn="just">
              <a:buFont typeface="Times New Roman" panose="02020603050405020304" pitchFamily="18" charset="0"/>
              <a:buChar char="-"/>
            </a:pPr>
            <a:r>
              <a:rPr lang="en-US" sz="2500">
                <a:latin typeface="Times New Roman" panose="02020603050405020304" pitchFamily="18" charset="0"/>
                <a:cs typeface="Times New Roman" panose="02020603050405020304" pitchFamily="18" charset="0"/>
              </a:rPr>
              <a:t>devices.json quản lý danh sách thiết bị hợp lệ. </a:t>
            </a:r>
          </a:p>
          <a:p>
            <a:pPr marL="342900" indent="-342900" algn="just">
              <a:buFont typeface="Times New Roman" panose="02020603050405020304" pitchFamily="18" charset="0"/>
              <a:buChar char="-"/>
            </a:pPr>
            <a:r>
              <a:rPr lang="en-US" sz="2500">
                <a:latin typeface="Times New Roman" panose="02020603050405020304" pitchFamily="18" charset="0"/>
                <a:cs typeface="Times New Roman" panose="02020603050405020304" pitchFamily="18" charset="0"/>
              </a:rPr>
              <a:t>OWASP ISVS và Mbed TLS làm tài liệu tham khảo về bảo mật. </a:t>
            </a:r>
          </a:p>
          <a:p>
            <a:endParaRPr lang="en-US"/>
          </a:p>
        </p:txBody>
      </p:sp>
      <p:pic>
        <p:nvPicPr>
          <p:cNvPr id="6" name="Picture 5">
            <a:extLst>
              <a:ext uri="{FF2B5EF4-FFF2-40B4-BE49-F238E27FC236}">
                <a16:creationId xmlns:a16="http://schemas.microsoft.com/office/drawing/2014/main" id="{ADC34980-6AD2-34C7-BDC6-C41CDFE9FBAE}"/>
              </a:ext>
            </a:extLst>
          </p:cNvPr>
          <p:cNvPicPr>
            <a:picLocks noChangeAspect="1"/>
          </p:cNvPicPr>
          <p:nvPr/>
        </p:nvPicPr>
        <p:blipFill>
          <a:blip r:embed="rId2"/>
          <a:stretch>
            <a:fillRect/>
          </a:stretch>
        </p:blipFill>
        <p:spPr>
          <a:xfrm>
            <a:off x="850899" y="3429000"/>
            <a:ext cx="5245100" cy="2744936"/>
          </a:xfrm>
          <a:prstGeom prst="rect">
            <a:avLst/>
          </a:prstGeom>
        </p:spPr>
      </p:pic>
      <p:pic>
        <p:nvPicPr>
          <p:cNvPr id="7" name="Picture 6">
            <a:extLst>
              <a:ext uri="{FF2B5EF4-FFF2-40B4-BE49-F238E27FC236}">
                <a16:creationId xmlns:a16="http://schemas.microsoft.com/office/drawing/2014/main" id="{44489629-7022-8389-E93B-6F4D04B48872}"/>
              </a:ext>
            </a:extLst>
          </p:cNvPr>
          <p:cNvPicPr>
            <a:picLocks noChangeAspect="1"/>
          </p:cNvPicPr>
          <p:nvPr/>
        </p:nvPicPr>
        <p:blipFill>
          <a:blip r:embed="rId3"/>
          <a:stretch>
            <a:fillRect/>
          </a:stretch>
        </p:blipFill>
        <p:spPr>
          <a:xfrm>
            <a:off x="6505576" y="3417935"/>
            <a:ext cx="5245100" cy="2756001"/>
          </a:xfrm>
          <a:prstGeom prst="rect">
            <a:avLst/>
          </a:prstGeom>
        </p:spPr>
      </p:pic>
    </p:spTree>
    <p:extLst>
      <p:ext uri="{BB962C8B-B14F-4D97-AF65-F5344CB8AC3E}">
        <p14:creationId xmlns:p14="http://schemas.microsoft.com/office/powerpoint/2010/main" val="2507484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77461F-734C-5A03-ED25-74064375EC34}"/>
              </a:ext>
            </a:extLst>
          </p:cNvPr>
          <p:cNvSpPr txBox="1"/>
          <p:nvPr/>
        </p:nvSpPr>
        <p:spPr>
          <a:xfrm>
            <a:off x="596900" y="749300"/>
            <a:ext cx="5181600" cy="5524499"/>
          </a:xfrm>
          <a:prstGeom prst="rect">
            <a:avLst/>
          </a:prstGeom>
        </p:spPr>
        <p:txBody>
          <a:bodyPr rtlCol="0">
            <a:normAutofit lnSpcReduction="10000"/>
          </a:bodyPr>
          <a:lstStyle/>
          <a:p>
            <a:pPr algn="just">
              <a:lnSpc>
                <a:spcPct val="130000"/>
              </a:lnSpc>
              <a:spcBef>
                <a:spcPts val="1000"/>
              </a:spcBef>
            </a:pPr>
            <a:r>
              <a:rPr lang="vi-VN" sz="2500">
                <a:latin typeface="Times New Roman" panose="02020603050405020304" pitchFamily="18" charset="0"/>
                <a:cs typeface="Times New Roman" panose="02020603050405020304" pitchFamily="18" charset="0"/>
              </a:rPr>
              <a:t>	</a:t>
            </a:r>
            <a:r>
              <a:rPr lang="en-US" sz="2500">
                <a:latin typeface="Times New Roman" panose="02020603050405020304" pitchFamily="18" charset="0"/>
                <a:cs typeface="Times New Roman" panose="02020603050405020304" pitchFamily="18" charset="0"/>
              </a:rPr>
              <a:t>Hệ thống gồm thiết bị IoT, Flask Server và tệp devices.json. Thiết bị gửi yêu cầu đến API /telemetry; máy chủ kiểm tra Device ID và Token trước khi xử lý dữ liệu và ghi lại toàn bộ sự kiện vào app.log.</a:t>
            </a:r>
          </a:p>
          <a:p>
            <a:pPr algn="just">
              <a:lnSpc>
                <a:spcPct val="130000"/>
              </a:lnSpc>
              <a:spcBef>
                <a:spcPts val="1000"/>
              </a:spcBef>
            </a:pPr>
            <a:r>
              <a:rPr lang="en-US" sz="2500">
                <a:latin typeface="Times New Roman" panose="02020603050405020304" pitchFamily="18" charset="0"/>
                <a:cs typeface="Times New Roman" panose="02020603050405020304" pitchFamily="18" charset="0"/>
              </a:rPr>
              <a:t>Quy trình: </a:t>
            </a:r>
          </a:p>
          <a:p>
            <a:pPr algn="just">
              <a:lnSpc>
                <a:spcPct val="130000"/>
              </a:lnSpc>
              <a:spcBef>
                <a:spcPts val="1000"/>
              </a:spcBef>
            </a:pPr>
            <a:r>
              <a:rPr lang="en-US" sz="2500">
                <a:latin typeface="Times New Roman" panose="02020603050405020304" pitchFamily="18" charset="0"/>
                <a:cs typeface="Times New Roman" panose="02020603050405020304" pitchFamily="18" charset="0"/>
              </a:rPr>
              <a:t>	Thiết bị → Flask API → Kiểm tra Device ID → Kiểm tra Token → Ghi Log → Phản hồi HTTP 200/401/403.</a:t>
            </a:r>
          </a:p>
          <a:p>
            <a:pPr marL="228600" indent="-228600">
              <a:lnSpc>
                <a:spcPct val="90000"/>
              </a:lnSpc>
              <a:spcBef>
                <a:spcPts val="1000"/>
              </a:spcBef>
              <a:buFont typeface="Arial" panose="020B0604020202020204" pitchFamily="34" charset="0"/>
              <a:buChar char="•"/>
            </a:pPr>
            <a:endParaRPr lang="en-US" sz="2400"/>
          </a:p>
          <a:p>
            <a:pPr marL="228600" indent="-228600">
              <a:lnSpc>
                <a:spcPct val="90000"/>
              </a:lnSpc>
              <a:spcBef>
                <a:spcPts val="1000"/>
              </a:spcBef>
              <a:buFont typeface="Arial" panose="020B0604020202020204" pitchFamily="34" charset="0"/>
              <a:buChar char="•"/>
            </a:pPr>
            <a:endParaRPr lang="en-US" sz="2400"/>
          </a:p>
        </p:txBody>
      </p:sp>
      <p:pic>
        <p:nvPicPr>
          <p:cNvPr id="1027" name="Picture 1">
            <a:extLst>
              <a:ext uri="{FF2B5EF4-FFF2-40B4-BE49-F238E27FC236}">
                <a16:creationId xmlns:a16="http://schemas.microsoft.com/office/drawing/2014/main" id="{6BB155C7-BAD0-ABA9-C2FE-550250B8320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72200" y="2006378"/>
            <a:ext cx="5181600" cy="39898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4B3494B2-393D-482A-B1EF-11D98EAA3632}"/>
              </a:ext>
            </a:extLst>
          </p:cNvPr>
          <p:cNvSpPr txBox="1"/>
          <p:nvPr/>
        </p:nvSpPr>
        <p:spPr>
          <a:xfrm>
            <a:off x="4394620" y="261035"/>
            <a:ext cx="3874715" cy="800219"/>
          </a:xfrm>
          <a:prstGeom prst="rect">
            <a:avLst/>
          </a:prstGeom>
          <a:noFill/>
        </p:spPr>
        <p:txBody>
          <a:bodyPr wrap="none" rtlCol="0">
            <a:spAutoFit/>
          </a:bodyPr>
          <a:lstStyle/>
          <a:p>
            <a:r>
              <a:rPr lang="en-US" sz="2800" b="1">
                <a:latin typeface="Times New Roman" panose="02020603050405020304" pitchFamily="18" charset="0"/>
                <a:cs typeface="Times New Roman" panose="02020603050405020304" pitchFamily="18" charset="0"/>
              </a:rPr>
              <a:t>MÔ HÌNH HỆ THỐNG</a:t>
            </a:r>
          </a:p>
          <a:p>
            <a:endParaRPr lang="en-US"/>
          </a:p>
        </p:txBody>
      </p:sp>
    </p:spTree>
    <p:extLst>
      <p:ext uri="{BB962C8B-B14F-4D97-AF65-F5344CB8AC3E}">
        <p14:creationId xmlns:p14="http://schemas.microsoft.com/office/powerpoint/2010/main" val="4012765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1ADD20-9F7A-5E12-A63B-7AFECDC5D1C1}"/>
              </a:ext>
            </a:extLst>
          </p:cNvPr>
          <p:cNvSpPr txBox="1"/>
          <p:nvPr/>
        </p:nvSpPr>
        <p:spPr>
          <a:xfrm>
            <a:off x="475488" y="448056"/>
            <a:ext cx="10433812" cy="2723823"/>
          </a:xfrm>
          <a:prstGeom prst="rect">
            <a:avLst/>
          </a:prstGeom>
          <a:noFill/>
        </p:spPr>
        <p:txBody>
          <a:bodyPr wrap="square" rtlCol="0">
            <a:spAutoFit/>
          </a:bodyPr>
          <a:lstStyle/>
          <a:p>
            <a:pPr algn="ctr"/>
            <a:r>
              <a:rPr lang="en-US" sz="2800" b="1">
                <a:latin typeface="Times New Roman" panose="02020603050405020304" pitchFamily="18" charset="0"/>
                <a:cs typeface="Times New Roman" panose="02020603050405020304" pitchFamily="18" charset="0"/>
              </a:rPr>
              <a:t>KẾT QUẢ THỬ NGHIỆM</a:t>
            </a:r>
            <a:endParaRPr lang="vi-VN" sz="2800" b="1">
              <a:latin typeface="Times New Roman" panose="02020603050405020304" pitchFamily="18" charset="0"/>
              <a:cs typeface="Times New Roman" panose="02020603050405020304" pitchFamily="18" charset="0"/>
            </a:endParaRPr>
          </a:p>
          <a:p>
            <a:r>
              <a:rPr lang="vi-VN" sz="2500">
                <a:latin typeface="Times New Roman" panose="02020603050405020304" pitchFamily="18" charset="0"/>
                <a:cs typeface="Times New Roman" panose="02020603050405020304" pitchFamily="18" charset="0"/>
              </a:rPr>
              <a:t>	</a:t>
            </a:r>
            <a:r>
              <a:rPr lang="en-US" sz="2500">
                <a:latin typeface="Times New Roman" panose="02020603050405020304" pitchFamily="18" charset="0"/>
                <a:cs typeface="Times New Roman" panose="02020603050405020304" pitchFamily="18" charset="0"/>
              </a:rPr>
              <a:t>Hệ thống được kiểm thử với hai tình huống đầu tiên nhằm đánh giá khả năng xác thực thiết bị.</a:t>
            </a:r>
          </a:p>
          <a:p>
            <a:pPr marL="457200" indent="-457200">
              <a:buFont typeface="+mj-lt"/>
              <a:buAutoNum type="arabicPeriod"/>
            </a:pPr>
            <a:r>
              <a:rPr lang="en-US" sz="2500">
                <a:latin typeface="Times New Roman" panose="02020603050405020304" pitchFamily="18" charset="0"/>
                <a:cs typeface="Times New Roman" panose="02020603050405020304" pitchFamily="18" charset="0"/>
              </a:rPr>
              <a:t>Thiết bị hợp lệ: Device ID và Token đúng → HTTP 200 OK. </a:t>
            </a:r>
          </a:p>
          <a:p>
            <a:pPr marL="457200" indent="-457200">
              <a:buFont typeface="+mj-lt"/>
              <a:buAutoNum type="arabicPeriod"/>
            </a:pPr>
            <a:r>
              <a:rPr lang="en-US" sz="2500">
                <a:latin typeface="Times New Roman" panose="02020603050405020304" pitchFamily="18" charset="0"/>
                <a:cs typeface="Times New Roman" panose="02020603050405020304" pitchFamily="18" charset="0"/>
              </a:rPr>
              <a:t>Thiết bị giả mạo: Device ID không tồn tại → HTTP 401 Unauthorized. </a:t>
            </a:r>
          </a:p>
          <a:p>
            <a:r>
              <a:rPr lang="en-US" sz="2500">
                <a:latin typeface="Times New Roman" panose="02020603050405020304" pitchFamily="18" charset="0"/>
                <a:cs typeface="Times New Roman" panose="02020603050405020304" pitchFamily="18" charset="0"/>
              </a:rPr>
              <a:t>Kết quả cho thấy máy chủ chỉ tiếp nhận dữ liệu từ các thiết bị đã được đăng ký.</a:t>
            </a:r>
          </a:p>
          <a:p>
            <a:endParaRPr lang="en-US"/>
          </a:p>
        </p:txBody>
      </p:sp>
      <p:pic>
        <p:nvPicPr>
          <p:cNvPr id="7" name="Picture 6">
            <a:extLst>
              <a:ext uri="{FF2B5EF4-FFF2-40B4-BE49-F238E27FC236}">
                <a16:creationId xmlns:a16="http://schemas.microsoft.com/office/drawing/2014/main" id="{4ECBE999-1FD8-0F5E-FBD4-7E05DD4151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489" y="3429000"/>
            <a:ext cx="5759746" cy="2784618"/>
          </a:xfrm>
          <a:prstGeom prst="rect">
            <a:avLst/>
          </a:prstGeom>
        </p:spPr>
      </p:pic>
      <p:pic>
        <p:nvPicPr>
          <p:cNvPr id="9" name="Picture 8">
            <a:extLst>
              <a:ext uri="{FF2B5EF4-FFF2-40B4-BE49-F238E27FC236}">
                <a16:creationId xmlns:a16="http://schemas.microsoft.com/office/drawing/2014/main" id="{9341BF60-F8F8-EC8D-FE78-38BDACD88E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4600" y="3429000"/>
            <a:ext cx="5759746" cy="2784618"/>
          </a:xfrm>
          <a:prstGeom prst="rect">
            <a:avLst/>
          </a:prstGeom>
        </p:spPr>
      </p:pic>
    </p:spTree>
    <p:extLst>
      <p:ext uri="{BB962C8B-B14F-4D97-AF65-F5344CB8AC3E}">
        <p14:creationId xmlns:p14="http://schemas.microsoft.com/office/powerpoint/2010/main" val="1945835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348C73-9413-B971-84D2-C64A5548D35D}"/>
              </a:ext>
            </a:extLst>
          </p:cNvPr>
          <p:cNvSpPr txBox="1"/>
          <p:nvPr/>
        </p:nvSpPr>
        <p:spPr>
          <a:xfrm>
            <a:off x="139700" y="469900"/>
            <a:ext cx="11912600" cy="3493264"/>
          </a:xfrm>
          <a:prstGeom prst="rect">
            <a:avLst/>
          </a:prstGeom>
          <a:noFill/>
        </p:spPr>
        <p:txBody>
          <a:bodyPr wrap="square" rtlCol="0">
            <a:spAutoFit/>
          </a:bodyPr>
          <a:lstStyle/>
          <a:p>
            <a:pPr algn="ctr"/>
            <a:r>
              <a:rPr lang="en-US" sz="2800" b="1">
                <a:latin typeface="Times New Roman" panose="02020603050405020304" pitchFamily="18" charset="0"/>
                <a:cs typeface="Times New Roman" panose="02020603050405020304" pitchFamily="18" charset="0"/>
              </a:rPr>
              <a:t>KẾT QUẢ THỬ NGHIỆM</a:t>
            </a:r>
          </a:p>
          <a:p>
            <a:pPr algn="just"/>
            <a:r>
              <a:rPr lang="vi-VN" sz="2500">
                <a:latin typeface="Times New Roman" panose="02020603050405020304" pitchFamily="18" charset="0"/>
                <a:cs typeface="Times New Roman" panose="02020603050405020304" pitchFamily="18" charset="0"/>
              </a:rPr>
              <a:t>	</a:t>
            </a:r>
            <a:r>
              <a:rPr lang="en-US" sz="2500">
                <a:latin typeface="Times New Roman" panose="02020603050405020304" pitchFamily="18" charset="0"/>
                <a:cs typeface="Times New Roman" panose="02020603050405020304" pitchFamily="18" charset="0"/>
              </a:rPr>
              <a:t>Tiếp tục kiểm thử với thiết bị sử dụng Token không hợp lệ. Máy chủ phát hiện sai lệch và trả về HTTP 403 Forbidden, đồng thời ghi lại sự kiện trong app.log với trạng thái SPOOF DETECTED.</a:t>
            </a:r>
          </a:p>
          <a:p>
            <a:pPr algn="just"/>
            <a:r>
              <a:rPr lang="en-US" sz="2500">
                <a:latin typeface="Times New Roman" panose="02020603050405020304" pitchFamily="18" charset="0"/>
                <a:cs typeface="Times New Roman" panose="02020603050405020304" pitchFamily="18" charset="0"/>
              </a:rPr>
              <a:t>Kết quả đạt được</a:t>
            </a:r>
            <a:r>
              <a:rPr lang="vi-VN" sz="2500">
                <a:latin typeface="Times New Roman" panose="02020603050405020304" pitchFamily="18" charset="0"/>
                <a:cs typeface="Times New Roman" panose="02020603050405020304" pitchFamily="18" charset="0"/>
              </a:rPr>
              <a:t>: </a:t>
            </a:r>
            <a:endParaRPr lang="en-US" sz="2500">
              <a:latin typeface="Times New Roman" panose="02020603050405020304" pitchFamily="18" charset="0"/>
              <a:cs typeface="Times New Roman" panose="02020603050405020304" pitchFamily="18" charset="0"/>
            </a:endParaRPr>
          </a:p>
          <a:p>
            <a:pPr marL="800100" lvl="1" indent="-342900" algn="just">
              <a:buFont typeface="Times New Roman" panose="02020603050405020304" pitchFamily="18" charset="0"/>
              <a:buChar char="-"/>
            </a:pPr>
            <a:r>
              <a:rPr lang="en-US" sz="2500">
                <a:latin typeface="Times New Roman" panose="02020603050405020304" pitchFamily="18" charset="0"/>
                <a:cs typeface="Times New Roman" panose="02020603050405020304" pitchFamily="18" charset="0"/>
              </a:rPr>
              <a:t>Phát hiện thiết bị giả mạo. </a:t>
            </a:r>
          </a:p>
          <a:p>
            <a:pPr marL="800100" lvl="1" indent="-342900" algn="just">
              <a:buFont typeface="Times New Roman" panose="02020603050405020304" pitchFamily="18" charset="0"/>
              <a:buChar char="-"/>
            </a:pPr>
            <a:r>
              <a:rPr lang="en-US" sz="2500">
                <a:latin typeface="Times New Roman" panose="02020603050405020304" pitchFamily="18" charset="0"/>
                <a:cs typeface="Times New Roman" panose="02020603050405020304" pitchFamily="18" charset="0"/>
              </a:rPr>
              <a:t>Ghi log đầy đủ. </a:t>
            </a:r>
          </a:p>
          <a:p>
            <a:pPr marL="800100" lvl="1" indent="-342900" algn="just">
              <a:buFont typeface="Times New Roman" panose="02020603050405020304" pitchFamily="18" charset="0"/>
              <a:buChar char="-"/>
            </a:pPr>
            <a:r>
              <a:rPr lang="en-US" sz="2500">
                <a:latin typeface="Times New Roman" panose="02020603050405020304" pitchFamily="18" charset="0"/>
                <a:cs typeface="Times New Roman" panose="02020603050405020304" pitchFamily="18" charset="0"/>
              </a:rPr>
              <a:t>Hỗ trợ theo dõi và truy vết sự cố.</a:t>
            </a:r>
          </a:p>
          <a:p>
            <a:endParaRPr lang="en-US"/>
          </a:p>
        </p:txBody>
      </p:sp>
      <p:pic>
        <p:nvPicPr>
          <p:cNvPr id="7" name="Picture 6">
            <a:extLst>
              <a:ext uri="{FF2B5EF4-FFF2-40B4-BE49-F238E27FC236}">
                <a16:creationId xmlns:a16="http://schemas.microsoft.com/office/drawing/2014/main" id="{E4619FB7-A6BD-FD47-24A4-EEF9C6A43B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265" y="3692496"/>
            <a:ext cx="5759746" cy="2695604"/>
          </a:xfrm>
          <a:prstGeom prst="rect">
            <a:avLst/>
          </a:prstGeom>
        </p:spPr>
      </p:pic>
      <p:pic>
        <p:nvPicPr>
          <p:cNvPr id="9" name="Picture 8">
            <a:extLst>
              <a:ext uri="{FF2B5EF4-FFF2-40B4-BE49-F238E27FC236}">
                <a16:creationId xmlns:a16="http://schemas.microsoft.com/office/drawing/2014/main" id="{96DAD1A7-6C7C-4FD7-C240-F354DF063A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0508" y="2460483"/>
            <a:ext cx="5671294" cy="3927617"/>
          </a:xfrm>
          <a:prstGeom prst="rect">
            <a:avLst/>
          </a:prstGeom>
        </p:spPr>
      </p:pic>
    </p:spTree>
    <p:extLst>
      <p:ext uri="{BB962C8B-B14F-4D97-AF65-F5344CB8AC3E}">
        <p14:creationId xmlns:p14="http://schemas.microsoft.com/office/powerpoint/2010/main" val="3330647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7484FA3-727F-5130-37B6-E42839ADE426}"/>
              </a:ext>
            </a:extLst>
          </p:cNvPr>
          <p:cNvSpPr txBox="1"/>
          <p:nvPr/>
        </p:nvSpPr>
        <p:spPr>
          <a:xfrm>
            <a:off x="736600" y="517525"/>
            <a:ext cx="10515600" cy="1325563"/>
          </a:xfrm>
          <a:prstGeom prst="rect">
            <a:avLst/>
          </a:prstGeom>
        </p:spPr>
        <p:txBody>
          <a:bodyPr>
            <a:noAutofit/>
          </a:bodyPr>
          <a:lstStyle/>
          <a:p>
            <a:pPr algn="ctr">
              <a:lnSpc>
                <a:spcPct val="90000"/>
              </a:lnSpc>
              <a:spcBef>
                <a:spcPct val="0"/>
              </a:spcBef>
              <a:spcAft>
                <a:spcPts val="600"/>
              </a:spcAft>
            </a:pPr>
            <a:r>
              <a:rPr lang="en-US" sz="2800" b="1" kern="1200">
                <a:latin typeface="Times New Roman" panose="02020603050405020304" pitchFamily="18" charset="0"/>
                <a:ea typeface="+mj-ea"/>
                <a:cs typeface="Times New Roman" panose="02020603050405020304" pitchFamily="18" charset="0"/>
              </a:rPr>
              <a:t>PHÂN TÍCH RỦI RO VÀ BIỆN PHÁP GIẢM THIỂU</a:t>
            </a:r>
          </a:p>
        </p:txBody>
      </p:sp>
      <p:graphicFrame>
        <p:nvGraphicFramePr>
          <p:cNvPr id="3" name="Table 2">
            <a:extLst>
              <a:ext uri="{FF2B5EF4-FFF2-40B4-BE49-F238E27FC236}">
                <a16:creationId xmlns:a16="http://schemas.microsoft.com/office/drawing/2014/main" id="{52CD6587-8617-58A9-A07C-9D23B149592A}"/>
              </a:ext>
            </a:extLst>
          </p:cNvPr>
          <p:cNvGraphicFramePr>
            <a:graphicFrameLocks noGrp="1"/>
          </p:cNvGraphicFramePr>
          <p:nvPr>
            <p:extLst>
              <p:ext uri="{D42A27DB-BD31-4B8C-83A1-F6EECF244321}">
                <p14:modId xmlns:p14="http://schemas.microsoft.com/office/powerpoint/2010/main" val="2106930612"/>
              </p:ext>
            </p:extLst>
          </p:nvPr>
        </p:nvGraphicFramePr>
        <p:xfrm>
          <a:off x="939800" y="1843088"/>
          <a:ext cx="10515601" cy="4239158"/>
        </p:xfrm>
        <a:graphic>
          <a:graphicData uri="http://schemas.openxmlformats.org/drawingml/2006/table">
            <a:tbl>
              <a:tblPr>
                <a:solidFill>
                  <a:schemeClr val="bg1"/>
                </a:solidFill>
              </a:tblPr>
              <a:tblGrid>
                <a:gridCol w="3543301">
                  <a:extLst>
                    <a:ext uri="{9D8B030D-6E8A-4147-A177-3AD203B41FA5}">
                      <a16:colId xmlns:a16="http://schemas.microsoft.com/office/drawing/2014/main" val="3886182253"/>
                    </a:ext>
                  </a:extLst>
                </a:gridCol>
                <a:gridCol w="2171700">
                  <a:extLst>
                    <a:ext uri="{9D8B030D-6E8A-4147-A177-3AD203B41FA5}">
                      <a16:colId xmlns:a16="http://schemas.microsoft.com/office/drawing/2014/main" val="3175711654"/>
                    </a:ext>
                  </a:extLst>
                </a:gridCol>
                <a:gridCol w="4800600">
                  <a:extLst>
                    <a:ext uri="{9D8B030D-6E8A-4147-A177-3AD203B41FA5}">
                      <a16:colId xmlns:a16="http://schemas.microsoft.com/office/drawing/2014/main" val="3254494558"/>
                    </a:ext>
                  </a:extLst>
                </a:gridCol>
              </a:tblGrid>
              <a:tr h="531540">
                <a:tc>
                  <a:txBody>
                    <a:bodyPr/>
                    <a:lstStyle/>
                    <a:p>
                      <a:pPr algn="ctr">
                        <a:buNone/>
                      </a:pPr>
                      <a:r>
                        <a:rPr lang="en-US" sz="2500" b="1" cap="none" spc="0">
                          <a:solidFill>
                            <a:schemeClr val="tx1"/>
                          </a:solidFill>
                          <a:latin typeface="Times New Roman" panose="02020603050405020304" pitchFamily="18" charset="0"/>
                          <a:cs typeface="Times New Roman" panose="02020603050405020304" pitchFamily="18" charset="0"/>
                        </a:rPr>
                        <a:t>Rủi ro</a:t>
                      </a:r>
                      <a:endParaRPr lang="en-US" sz="2500" cap="none" spc="0">
                        <a:solidFill>
                          <a:schemeClr val="tx1"/>
                        </a:solidFill>
                        <a:latin typeface="Times New Roman" panose="02020603050405020304" pitchFamily="18" charset="0"/>
                        <a:cs typeface="Times New Roman" panose="02020603050405020304" pitchFamily="18" charset="0"/>
                      </a:endParaRPr>
                    </a:p>
                  </a:txBody>
                  <a:tcPr marL="145986" marR="112297" marT="112297" marB="112297"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lgn="ctr">
                        <a:buNone/>
                      </a:pPr>
                      <a:r>
                        <a:rPr lang="en-US" sz="2500" b="1" cap="none" spc="0">
                          <a:solidFill>
                            <a:schemeClr val="tx1"/>
                          </a:solidFill>
                          <a:latin typeface="Times New Roman" panose="02020603050405020304" pitchFamily="18" charset="0"/>
                          <a:cs typeface="Times New Roman" panose="02020603050405020304" pitchFamily="18" charset="0"/>
                        </a:rPr>
                        <a:t>Mức độ</a:t>
                      </a:r>
                      <a:endParaRPr lang="en-US" sz="2500" cap="none" spc="0">
                        <a:solidFill>
                          <a:schemeClr val="tx1"/>
                        </a:solidFill>
                        <a:latin typeface="Times New Roman" panose="02020603050405020304" pitchFamily="18" charset="0"/>
                        <a:cs typeface="Times New Roman" panose="02020603050405020304" pitchFamily="18" charset="0"/>
                      </a:endParaRPr>
                    </a:p>
                  </a:txBody>
                  <a:tcPr marL="145986" marR="112297" marT="112297" marB="112297"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lgn="ctr">
                        <a:buNone/>
                      </a:pPr>
                      <a:r>
                        <a:rPr lang="en-US" sz="2500" b="1" cap="none" spc="0">
                          <a:solidFill>
                            <a:schemeClr val="tx1"/>
                          </a:solidFill>
                          <a:latin typeface="Times New Roman" panose="02020603050405020304" pitchFamily="18" charset="0"/>
                          <a:cs typeface="Times New Roman" panose="02020603050405020304" pitchFamily="18" charset="0"/>
                        </a:rPr>
                        <a:t>Biện pháp giảm thiểu</a:t>
                      </a:r>
                      <a:endParaRPr lang="en-US" sz="2500" cap="none" spc="0">
                        <a:solidFill>
                          <a:schemeClr val="tx1"/>
                        </a:solidFill>
                        <a:latin typeface="Times New Roman" panose="02020603050405020304" pitchFamily="18" charset="0"/>
                        <a:cs typeface="Times New Roman" panose="02020603050405020304" pitchFamily="18" charset="0"/>
                      </a:endParaRPr>
                    </a:p>
                  </a:txBody>
                  <a:tcPr marL="145986" marR="112297" marT="112297" marB="112297"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76267001"/>
                  </a:ext>
                </a:extLst>
              </a:tr>
              <a:tr h="531540">
                <a:tc>
                  <a:txBody>
                    <a:bodyPr/>
                    <a:lstStyle/>
                    <a:p>
                      <a:pPr algn="l">
                        <a:buNone/>
                      </a:pPr>
                      <a:r>
                        <a:rPr lang="en-US" sz="2500" cap="none" spc="0">
                          <a:solidFill>
                            <a:schemeClr val="tx1"/>
                          </a:solidFill>
                          <a:latin typeface="Times New Roman" panose="02020603050405020304" pitchFamily="18" charset="0"/>
                          <a:cs typeface="Times New Roman" panose="02020603050405020304" pitchFamily="18" charset="0"/>
                        </a:rPr>
                        <a:t>Giả mạo </a:t>
                      </a:r>
                      <a:r>
                        <a:rPr lang="en-US" sz="2500" b="0" cap="none" spc="0">
                          <a:solidFill>
                            <a:schemeClr val="tx1"/>
                          </a:solidFill>
                          <a:latin typeface="Times New Roman" panose="02020603050405020304" pitchFamily="18" charset="0"/>
                          <a:cs typeface="Times New Roman" panose="02020603050405020304" pitchFamily="18" charset="0"/>
                        </a:rPr>
                        <a:t>Device ID</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ctr">
                        <a:buNone/>
                      </a:pPr>
                      <a:r>
                        <a:rPr lang="en-US" sz="2500" cap="none" spc="0">
                          <a:solidFill>
                            <a:schemeClr val="tx1"/>
                          </a:solidFill>
                          <a:latin typeface="Times New Roman" panose="02020603050405020304" pitchFamily="18" charset="0"/>
                          <a:cs typeface="Times New Roman" panose="02020603050405020304" pitchFamily="18" charset="0"/>
                        </a:rPr>
                        <a:t>Cao</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2500" cap="none" spc="0">
                          <a:solidFill>
                            <a:schemeClr val="tx1"/>
                          </a:solidFill>
                          <a:latin typeface="Times New Roman" panose="02020603050405020304" pitchFamily="18" charset="0"/>
                          <a:cs typeface="Times New Roman" panose="02020603050405020304" pitchFamily="18" charset="0"/>
                        </a:rPr>
                        <a:t>Kiểm tra Whitelist (devices.json)</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193445729"/>
                  </a:ext>
                </a:extLst>
              </a:tr>
              <a:tr h="531540">
                <a:tc>
                  <a:txBody>
                    <a:bodyPr/>
                    <a:lstStyle/>
                    <a:p>
                      <a:pPr algn="l">
                        <a:buNone/>
                      </a:pPr>
                      <a:r>
                        <a:rPr lang="en-US" sz="2500" cap="none" spc="0">
                          <a:solidFill>
                            <a:schemeClr val="tx1"/>
                          </a:solidFill>
                          <a:latin typeface="Times New Roman" panose="02020603050405020304" pitchFamily="18" charset="0"/>
                          <a:cs typeface="Times New Roman" panose="02020603050405020304" pitchFamily="18" charset="0"/>
                        </a:rPr>
                        <a:t>Giả mạo </a:t>
                      </a:r>
                      <a:r>
                        <a:rPr lang="en-US" sz="2500" b="0" cap="none" spc="0">
                          <a:solidFill>
                            <a:schemeClr val="tx1"/>
                          </a:solidFill>
                          <a:latin typeface="Times New Roman" panose="02020603050405020304" pitchFamily="18" charset="0"/>
                          <a:cs typeface="Times New Roman" panose="02020603050405020304" pitchFamily="18" charset="0"/>
                        </a:rPr>
                        <a:t>Token</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ctr">
                        <a:buNone/>
                      </a:pPr>
                      <a:r>
                        <a:rPr lang="en-US" sz="2500" cap="none" spc="0">
                          <a:solidFill>
                            <a:schemeClr val="tx1"/>
                          </a:solidFill>
                          <a:latin typeface="Times New Roman" panose="02020603050405020304" pitchFamily="18" charset="0"/>
                          <a:cs typeface="Times New Roman" panose="02020603050405020304" pitchFamily="18" charset="0"/>
                        </a:rPr>
                        <a:t>Trung bình</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2500" cap="none" spc="0">
                          <a:solidFill>
                            <a:schemeClr val="tx1"/>
                          </a:solidFill>
                          <a:latin typeface="Times New Roman" panose="02020603050405020304" pitchFamily="18" charset="0"/>
                          <a:cs typeface="Times New Roman" panose="02020603050405020304" pitchFamily="18" charset="0"/>
                        </a:rPr>
                        <a:t>Xác thực Token trước khi xử lý</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843065890"/>
                  </a:ext>
                </a:extLst>
              </a:tr>
              <a:tr h="531540">
                <a:tc>
                  <a:txBody>
                    <a:bodyPr/>
                    <a:lstStyle/>
                    <a:p>
                      <a:pPr algn="l">
                        <a:buNone/>
                      </a:pPr>
                      <a:r>
                        <a:rPr lang="en-US" sz="2500" cap="none" spc="0">
                          <a:solidFill>
                            <a:schemeClr val="tx1"/>
                          </a:solidFill>
                          <a:latin typeface="Times New Roman" panose="02020603050405020304" pitchFamily="18" charset="0"/>
                          <a:cs typeface="Times New Roman" panose="02020603050405020304" pitchFamily="18" charset="0"/>
                        </a:rPr>
                        <a:t>Nghe lén dữ liệu (HTTP)</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ctr">
                        <a:buNone/>
                      </a:pPr>
                      <a:r>
                        <a:rPr lang="en-US" sz="2500" cap="none" spc="0">
                          <a:solidFill>
                            <a:schemeClr val="tx1"/>
                          </a:solidFill>
                          <a:latin typeface="Times New Roman" panose="02020603050405020304" pitchFamily="18" charset="0"/>
                          <a:cs typeface="Times New Roman" panose="02020603050405020304" pitchFamily="18" charset="0"/>
                        </a:rPr>
                        <a:t>Cao</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2500" cap="none" spc="0">
                          <a:solidFill>
                            <a:schemeClr val="tx1"/>
                          </a:solidFill>
                          <a:latin typeface="Times New Roman" panose="02020603050405020304" pitchFamily="18" charset="0"/>
                          <a:cs typeface="Times New Roman" panose="02020603050405020304" pitchFamily="18" charset="0"/>
                        </a:rPr>
                        <a:t>Triển khai HTTPS/TLS</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640445449"/>
                  </a:ext>
                </a:extLst>
              </a:tr>
              <a:tr h="531540">
                <a:tc>
                  <a:txBody>
                    <a:bodyPr/>
                    <a:lstStyle/>
                    <a:p>
                      <a:pPr algn="l">
                        <a:buNone/>
                      </a:pPr>
                      <a:r>
                        <a:rPr lang="en-US" sz="2500" cap="none" spc="0">
                          <a:solidFill>
                            <a:schemeClr val="tx1"/>
                          </a:solidFill>
                          <a:latin typeface="Times New Roman" panose="02020603050405020304" pitchFamily="18" charset="0"/>
                          <a:cs typeface="Times New Roman" panose="02020603050405020304" pitchFamily="18" charset="0"/>
                        </a:rPr>
                        <a:t>Tấn công DoS</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ctr">
                        <a:buNone/>
                      </a:pPr>
                      <a:r>
                        <a:rPr lang="en-US" sz="2500" cap="none" spc="0">
                          <a:solidFill>
                            <a:schemeClr val="tx1"/>
                          </a:solidFill>
                          <a:latin typeface="Times New Roman" panose="02020603050405020304" pitchFamily="18" charset="0"/>
                          <a:cs typeface="Times New Roman" panose="02020603050405020304" pitchFamily="18" charset="0"/>
                        </a:rPr>
                        <a:t>Trung bình</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2500" cap="none" spc="0">
                          <a:solidFill>
                            <a:schemeClr val="tx1"/>
                          </a:solidFill>
                          <a:latin typeface="Times New Roman" panose="02020603050405020304" pitchFamily="18" charset="0"/>
                          <a:cs typeface="Times New Roman" panose="02020603050405020304" pitchFamily="18" charset="0"/>
                        </a:rPr>
                        <a:t>Áp dụng Rate Limiting</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628788153"/>
                  </a:ext>
                </a:extLst>
              </a:tr>
              <a:tr h="531540">
                <a:tc>
                  <a:txBody>
                    <a:bodyPr/>
                    <a:lstStyle/>
                    <a:p>
                      <a:pPr algn="l">
                        <a:buNone/>
                      </a:pPr>
                      <a:r>
                        <a:rPr lang="en-US" sz="2500" cap="none" spc="0">
                          <a:solidFill>
                            <a:schemeClr val="tx1"/>
                          </a:solidFill>
                          <a:latin typeface="Times New Roman" panose="02020603050405020304" pitchFamily="18" charset="0"/>
                          <a:cs typeface="Times New Roman" panose="02020603050405020304" pitchFamily="18" charset="0"/>
                        </a:rPr>
                        <a:t>Rò rỉ devices.json</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ctr">
                        <a:buNone/>
                      </a:pPr>
                      <a:r>
                        <a:rPr lang="en-US" sz="2500" cap="none" spc="0">
                          <a:solidFill>
                            <a:schemeClr val="tx1"/>
                          </a:solidFill>
                          <a:latin typeface="Times New Roman" panose="02020603050405020304" pitchFamily="18" charset="0"/>
                          <a:cs typeface="Times New Roman" panose="02020603050405020304" pitchFamily="18" charset="0"/>
                        </a:rPr>
                        <a:t>Trung bình</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lgn="l">
                        <a:buNone/>
                      </a:pPr>
                      <a:r>
                        <a:rPr lang="en-US" sz="2500" cap="none" spc="0">
                          <a:solidFill>
                            <a:schemeClr val="tx1"/>
                          </a:solidFill>
                          <a:latin typeface="Times New Roman" panose="02020603050405020304" pitchFamily="18" charset="0"/>
                          <a:cs typeface="Times New Roman" panose="02020603050405020304" pitchFamily="18" charset="0"/>
                        </a:rPr>
                        <a:t>Phân quyền và mã hóa tệp</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771654742"/>
                  </a:ext>
                </a:extLst>
              </a:tr>
              <a:tr h="531540">
                <a:tc>
                  <a:txBody>
                    <a:bodyPr/>
                    <a:lstStyle/>
                    <a:p>
                      <a:pPr algn="l">
                        <a:buNone/>
                      </a:pPr>
                      <a:r>
                        <a:rPr lang="en-US" sz="2500" cap="none" spc="0">
                          <a:solidFill>
                            <a:schemeClr val="tx1"/>
                          </a:solidFill>
                          <a:latin typeface="Times New Roman" panose="02020603050405020304" pitchFamily="18" charset="0"/>
                          <a:cs typeface="Times New Roman" panose="02020603050405020304" pitchFamily="18" charset="0"/>
                        </a:rPr>
                        <a:t>Mất hoặc sửa Log</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lgn="ctr">
                        <a:buNone/>
                      </a:pPr>
                      <a:r>
                        <a:rPr lang="en-US" sz="2500" cap="none" spc="0">
                          <a:solidFill>
                            <a:schemeClr val="tx1"/>
                          </a:solidFill>
                          <a:latin typeface="Times New Roman" panose="02020603050405020304" pitchFamily="18" charset="0"/>
                          <a:cs typeface="Times New Roman" panose="02020603050405020304" pitchFamily="18" charset="0"/>
                        </a:rPr>
                        <a:t>Thấp</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lgn="l">
                        <a:buNone/>
                      </a:pPr>
                      <a:r>
                        <a:rPr lang="en-US" sz="2500" cap="none" spc="0">
                          <a:solidFill>
                            <a:schemeClr val="tx1"/>
                          </a:solidFill>
                          <a:latin typeface="Times New Roman" panose="02020603050405020304" pitchFamily="18" charset="0"/>
                          <a:cs typeface="Times New Roman" panose="02020603050405020304" pitchFamily="18" charset="0"/>
                        </a:rPr>
                        <a:t>Log Rotation và lưu trữ tập trung</a:t>
                      </a:r>
                    </a:p>
                  </a:txBody>
                  <a:tcPr marL="145986" marR="112297" marT="112297" marB="112297"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569424344"/>
                  </a:ext>
                </a:extLst>
              </a:tr>
            </a:tbl>
          </a:graphicData>
        </a:graphic>
      </p:graphicFrame>
    </p:spTree>
    <p:extLst>
      <p:ext uri="{BB962C8B-B14F-4D97-AF65-F5344CB8AC3E}">
        <p14:creationId xmlns:p14="http://schemas.microsoft.com/office/powerpoint/2010/main" val="295184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39FAAB-D352-64B5-811E-EB82D755ED30}"/>
              </a:ext>
            </a:extLst>
          </p:cNvPr>
          <p:cNvSpPr txBox="1"/>
          <p:nvPr/>
        </p:nvSpPr>
        <p:spPr>
          <a:xfrm>
            <a:off x="673100" y="427009"/>
            <a:ext cx="10845800" cy="6430991"/>
          </a:xfrm>
          <a:prstGeom prst="rect">
            <a:avLst/>
          </a:prstGeom>
          <a:noFill/>
        </p:spPr>
        <p:txBody>
          <a:bodyPr wrap="square" rtlCol="0">
            <a:spAutoFit/>
          </a:bodyPr>
          <a:lstStyle/>
          <a:p>
            <a:pPr algn="ctr">
              <a:lnSpc>
                <a:spcPct val="130000"/>
              </a:lnSpc>
            </a:pPr>
            <a:r>
              <a:rPr lang="en-US" sz="2800" b="1">
                <a:latin typeface="Times New Roman" panose="02020603050405020304" pitchFamily="18" charset="0"/>
                <a:cs typeface="Times New Roman" panose="02020603050405020304" pitchFamily="18" charset="0"/>
              </a:rPr>
              <a:t>ĐÁNH GIÁ – HẠN CHẾ – HƯỚNG PHÁT TRIỂN</a:t>
            </a:r>
          </a:p>
          <a:p>
            <a:pPr algn="just">
              <a:lnSpc>
                <a:spcPct val="130000"/>
              </a:lnSpc>
            </a:pPr>
            <a:r>
              <a:rPr lang="vi-VN" sz="2500">
                <a:latin typeface="Times New Roman" panose="02020603050405020304" pitchFamily="18" charset="0"/>
                <a:cs typeface="Times New Roman" panose="02020603050405020304" pitchFamily="18" charset="0"/>
              </a:rPr>
              <a:t>	</a:t>
            </a:r>
            <a:r>
              <a:rPr lang="en-US" sz="2500">
                <a:latin typeface="Times New Roman" panose="02020603050405020304" pitchFamily="18" charset="0"/>
                <a:cs typeface="Times New Roman" panose="02020603050405020304" pitchFamily="18" charset="0"/>
              </a:rPr>
              <a:t>Đề tài đã hoàn thành mục tiêu xây dựng cơ chế xác thực thiết bị và ngăn chặn thành công các kịch bản giả mạo trong môi trường mô phỏng.</a:t>
            </a:r>
          </a:p>
          <a:p>
            <a:pPr algn="just">
              <a:lnSpc>
                <a:spcPct val="130000"/>
              </a:lnSpc>
            </a:pPr>
            <a:r>
              <a:rPr lang="en-US" sz="2500">
                <a:latin typeface="Times New Roman" panose="02020603050405020304" pitchFamily="18" charset="0"/>
                <a:cs typeface="Times New Roman" panose="02020603050405020304" pitchFamily="18" charset="0"/>
              </a:rPr>
              <a:t>Hạn chế</a:t>
            </a:r>
            <a:r>
              <a:rPr lang="vi-VN" sz="2500">
                <a:latin typeface="Times New Roman" panose="02020603050405020304" pitchFamily="18" charset="0"/>
                <a:cs typeface="Times New Roman" panose="02020603050405020304" pitchFamily="18" charset="0"/>
              </a:rPr>
              <a:t>: </a:t>
            </a:r>
            <a:endParaRPr lang="en-US" sz="2500">
              <a:latin typeface="Times New Roman" panose="02020603050405020304" pitchFamily="18" charset="0"/>
              <a:cs typeface="Times New Roman" panose="02020603050405020304" pitchFamily="18" charset="0"/>
            </a:endParaRPr>
          </a:p>
          <a:p>
            <a:pPr marL="800100" lvl="1" indent="-342900" algn="just">
              <a:lnSpc>
                <a:spcPct val="130000"/>
              </a:lnSpc>
              <a:buFont typeface="Times New Roman" panose="02020603050405020304" pitchFamily="18" charset="0"/>
              <a:buChar char="-"/>
            </a:pPr>
            <a:r>
              <a:rPr lang="en-US" sz="2500">
                <a:latin typeface="Times New Roman" panose="02020603050405020304" pitchFamily="18" charset="0"/>
                <a:cs typeface="Times New Roman" panose="02020603050405020304" pitchFamily="18" charset="0"/>
              </a:rPr>
              <a:t>Chỉ thử nghiệm trên Localhost. </a:t>
            </a:r>
          </a:p>
          <a:p>
            <a:pPr marL="800100" lvl="1" indent="-342900" algn="just">
              <a:lnSpc>
                <a:spcPct val="130000"/>
              </a:lnSpc>
              <a:buFont typeface="Times New Roman" panose="02020603050405020304" pitchFamily="18" charset="0"/>
              <a:buChar char="-"/>
            </a:pPr>
            <a:r>
              <a:rPr lang="en-US" sz="2500">
                <a:latin typeface="Times New Roman" panose="02020603050405020304" pitchFamily="18" charset="0"/>
                <a:cs typeface="Times New Roman" panose="02020603050405020304" pitchFamily="18" charset="0"/>
              </a:rPr>
              <a:t>Chưa triển khai HTTPS/TLS. </a:t>
            </a:r>
          </a:p>
          <a:p>
            <a:pPr marL="800100" lvl="1" indent="-342900" algn="just">
              <a:lnSpc>
                <a:spcPct val="130000"/>
              </a:lnSpc>
              <a:buFont typeface="Times New Roman" panose="02020603050405020304" pitchFamily="18" charset="0"/>
              <a:buChar char="-"/>
            </a:pPr>
            <a:r>
              <a:rPr lang="en-US" sz="2500">
                <a:latin typeface="Times New Roman" panose="02020603050405020304" pitchFamily="18" charset="0"/>
                <a:cs typeface="Times New Roman" panose="02020603050405020304" pitchFamily="18" charset="0"/>
              </a:rPr>
              <a:t>Chưa kết nối phần cứng IoT thực tế. </a:t>
            </a:r>
          </a:p>
          <a:p>
            <a:pPr algn="just">
              <a:lnSpc>
                <a:spcPct val="130000"/>
              </a:lnSpc>
            </a:pPr>
            <a:r>
              <a:rPr lang="en-US" sz="2500">
                <a:latin typeface="Times New Roman" panose="02020603050405020304" pitchFamily="18" charset="0"/>
                <a:cs typeface="Times New Roman" panose="02020603050405020304" pitchFamily="18" charset="0"/>
              </a:rPr>
              <a:t>Hướng phát triển</a:t>
            </a:r>
            <a:r>
              <a:rPr lang="vi-VN" sz="2500">
                <a:latin typeface="Times New Roman" panose="02020603050405020304" pitchFamily="18" charset="0"/>
                <a:cs typeface="Times New Roman" panose="02020603050405020304" pitchFamily="18" charset="0"/>
              </a:rPr>
              <a:t>: </a:t>
            </a:r>
            <a:endParaRPr lang="en-US" sz="2500">
              <a:latin typeface="Times New Roman" panose="02020603050405020304" pitchFamily="18" charset="0"/>
              <a:cs typeface="Times New Roman" panose="02020603050405020304" pitchFamily="18" charset="0"/>
            </a:endParaRPr>
          </a:p>
          <a:p>
            <a:pPr marL="914400" lvl="1" indent="-457200" algn="just">
              <a:lnSpc>
                <a:spcPct val="130000"/>
              </a:lnSpc>
              <a:buFont typeface="Times New Roman" panose="02020603050405020304" pitchFamily="18" charset="0"/>
              <a:buChar char="-"/>
            </a:pPr>
            <a:r>
              <a:rPr lang="en-US" sz="2500">
                <a:latin typeface="Times New Roman" panose="02020603050405020304" pitchFamily="18" charset="0"/>
                <a:cs typeface="Times New Roman" panose="02020603050405020304" pitchFamily="18" charset="0"/>
              </a:rPr>
              <a:t>Triển khai trên ESP32/Raspberry Pi. </a:t>
            </a:r>
          </a:p>
          <a:p>
            <a:pPr marL="914400" lvl="1" indent="-457200" algn="just">
              <a:lnSpc>
                <a:spcPct val="130000"/>
              </a:lnSpc>
              <a:buFont typeface="Times New Roman" panose="02020603050405020304" pitchFamily="18" charset="0"/>
              <a:buChar char="-"/>
            </a:pPr>
            <a:r>
              <a:rPr lang="en-US" sz="2500">
                <a:latin typeface="Times New Roman" panose="02020603050405020304" pitchFamily="18" charset="0"/>
                <a:cs typeface="Times New Roman" panose="02020603050405020304" pitchFamily="18" charset="0"/>
              </a:rPr>
              <a:t>Sử dụng MQTT over TLS. </a:t>
            </a:r>
          </a:p>
          <a:p>
            <a:pPr marL="914400" lvl="1" indent="-457200" algn="just">
              <a:lnSpc>
                <a:spcPct val="130000"/>
              </a:lnSpc>
              <a:buFont typeface="Times New Roman" panose="02020603050405020304" pitchFamily="18" charset="0"/>
              <a:buChar char="-"/>
            </a:pPr>
            <a:r>
              <a:rPr lang="en-US" sz="2500">
                <a:latin typeface="Times New Roman" panose="02020603050405020304" pitchFamily="18" charset="0"/>
                <a:cs typeface="Times New Roman" panose="02020603050405020304" pitchFamily="18" charset="0"/>
              </a:rPr>
              <a:t>Áp dụng JWT hoặc Mutual TLS. </a:t>
            </a:r>
          </a:p>
          <a:p>
            <a:pPr marL="914400" lvl="1" indent="-457200" algn="just">
              <a:lnSpc>
                <a:spcPct val="130000"/>
              </a:lnSpc>
              <a:buFont typeface="Times New Roman" panose="02020603050405020304" pitchFamily="18" charset="0"/>
              <a:buChar char="-"/>
            </a:pPr>
            <a:r>
              <a:rPr lang="en-US" sz="2500">
                <a:latin typeface="Times New Roman" panose="02020603050405020304" pitchFamily="18" charset="0"/>
                <a:cs typeface="Times New Roman" panose="02020603050405020304" pitchFamily="18" charset="0"/>
              </a:rPr>
              <a:t>Tích hợp AI phát hiện bất thường.</a:t>
            </a:r>
          </a:p>
          <a:p>
            <a:endParaRPr lang="en-US"/>
          </a:p>
        </p:txBody>
      </p:sp>
    </p:spTree>
    <p:extLst>
      <p:ext uri="{BB962C8B-B14F-4D97-AF65-F5344CB8AC3E}">
        <p14:creationId xmlns:p14="http://schemas.microsoft.com/office/powerpoint/2010/main" val="2632408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B9D1C8-243C-61C2-7BAD-BC1E330CDC5B}"/>
              </a:ext>
            </a:extLst>
          </p:cNvPr>
          <p:cNvSpPr txBox="1"/>
          <p:nvPr/>
        </p:nvSpPr>
        <p:spPr>
          <a:xfrm>
            <a:off x="590550" y="673100"/>
            <a:ext cx="11010900" cy="5841599"/>
          </a:xfrm>
          <a:prstGeom prst="rect">
            <a:avLst/>
          </a:prstGeom>
          <a:noFill/>
        </p:spPr>
        <p:txBody>
          <a:bodyPr wrap="square" rtlCol="0">
            <a:spAutoFit/>
          </a:bodyPr>
          <a:lstStyle/>
          <a:p>
            <a:pPr algn="ctr"/>
            <a:r>
              <a:rPr lang="en-US" sz="2800" b="1">
                <a:latin typeface="Times New Roman" panose="02020603050405020304" pitchFamily="18" charset="0"/>
                <a:cs typeface="Times New Roman" panose="02020603050405020304" pitchFamily="18" charset="0"/>
              </a:rPr>
              <a:t>KẾT LUẬN</a:t>
            </a:r>
          </a:p>
          <a:p>
            <a:pPr algn="just">
              <a:lnSpc>
                <a:spcPct val="130000"/>
              </a:lnSpc>
            </a:pP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Đề tài đã xây dựng thành công hệ thống Flask REST API kiểm tra Device ID và Token, quản lý danh sách thiết bị hợp lệ bằng devices.json và ghi nhận nhật ký hệ thống. Kết quả thử nghiệm cho thấy cơ chế xác thực giúp ngăn chặn hiệu quả các yêu cầu giả mạo và nâng cao độ tin cậy của hệ thống IoT.</a:t>
            </a:r>
          </a:p>
          <a:p>
            <a:pPr algn="just">
              <a:lnSpc>
                <a:spcPct val="130000"/>
              </a:lnSpc>
            </a:pPr>
            <a:r>
              <a:rPr lang="en-US" sz="2800">
                <a:latin typeface="Times New Roman" panose="02020603050405020304" pitchFamily="18" charset="0"/>
                <a:cs typeface="Times New Roman" panose="02020603050405020304" pitchFamily="18" charset="0"/>
              </a:rPr>
              <a:t>Kết quả</a:t>
            </a:r>
            <a:r>
              <a:rPr lang="vi-VN" sz="2800">
                <a:latin typeface="Times New Roman" panose="02020603050405020304" pitchFamily="18" charset="0"/>
                <a:cs typeface="Times New Roman" panose="02020603050405020304" pitchFamily="18" charset="0"/>
              </a:rPr>
              <a:t>:</a:t>
            </a:r>
            <a:endParaRPr lang="en-US" sz="2800">
              <a:latin typeface="Times New Roman" panose="02020603050405020304" pitchFamily="18" charset="0"/>
              <a:cs typeface="Times New Roman" panose="02020603050405020304" pitchFamily="18" charset="0"/>
            </a:endParaRPr>
          </a:p>
          <a:p>
            <a:pPr marL="914400" lvl="1" indent="-457200" algn="just">
              <a:lnSpc>
                <a:spcPct val="130000"/>
              </a:lnSpc>
              <a:buFont typeface="Times New Roman" panose="02020603050405020304" pitchFamily="18" charset="0"/>
              <a:buChar char="-"/>
            </a:pPr>
            <a:r>
              <a:rPr lang="en-US" sz="2800">
                <a:latin typeface="Times New Roman" panose="02020603050405020304" pitchFamily="18" charset="0"/>
                <a:cs typeface="Times New Roman" panose="02020603050405020304" pitchFamily="18" charset="0"/>
              </a:rPr>
              <a:t>Xác thực thiết bị thành công. </a:t>
            </a:r>
          </a:p>
          <a:p>
            <a:pPr marL="914400" lvl="1" indent="-457200" algn="just">
              <a:lnSpc>
                <a:spcPct val="130000"/>
              </a:lnSpc>
              <a:buFont typeface="Times New Roman" panose="02020603050405020304" pitchFamily="18" charset="0"/>
              <a:buChar char="-"/>
            </a:pPr>
            <a:r>
              <a:rPr lang="en-US" sz="2800">
                <a:latin typeface="Times New Roman" panose="02020603050405020304" pitchFamily="18" charset="0"/>
                <a:cs typeface="Times New Roman" panose="02020603050405020304" pitchFamily="18" charset="0"/>
              </a:rPr>
              <a:t>Chặn Device ID và Token giả. </a:t>
            </a:r>
          </a:p>
          <a:p>
            <a:pPr marL="914400" lvl="1" indent="-457200" algn="just">
              <a:lnSpc>
                <a:spcPct val="130000"/>
              </a:lnSpc>
              <a:buFont typeface="Times New Roman" panose="02020603050405020304" pitchFamily="18" charset="0"/>
              <a:buChar char="-"/>
            </a:pPr>
            <a:r>
              <a:rPr lang="en-US" sz="2800">
                <a:latin typeface="Times New Roman" panose="02020603050405020304" pitchFamily="18" charset="0"/>
                <a:cs typeface="Times New Roman" panose="02020603050405020304" pitchFamily="18" charset="0"/>
              </a:rPr>
              <a:t>Ghi log phục vụ giám sát.</a:t>
            </a:r>
          </a:p>
          <a:p>
            <a:endParaRPr lang="en-US"/>
          </a:p>
        </p:txBody>
      </p:sp>
    </p:spTree>
    <p:extLst>
      <p:ext uri="{BB962C8B-B14F-4D97-AF65-F5344CB8AC3E}">
        <p14:creationId xmlns:p14="http://schemas.microsoft.com/office/powerpoint/2010/main" val="3909233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25FE47-353B-20EA-42A7-98CCA9CE0C51}"/>
              </a:ext>
            </a:extLst>
          </p:cNvPr>
          <p:cNvSpPr txBox="1"/>
          <p:nvPr/>
        </p:nvSpPr>
        <p:spPr>
          <a:xfrm>
            <a:off x="1192322" y="397401"/>
            <a:ext cx="9807356" cy="5740033"/>
          </a:xfrm>
          <a:prstGeom prst="rect">
            <a:avLst/>
          </a:prstGeom>
          <a:noFill/>
        </p:spPr>
        <p:txBody>
          <a:bodyPr wrap="square" rtlCol="0">
            <a:spAutoFit/>
          </a:bodyPr>
          <a:lstStyle/>
          <a:p>
            <a:pPr algn="ctr"/>
            <a:r>
              <a:rPr lang="en-US" sz="2500" b="1">
                <a:latin typeface="Times New Roman" panose="02020603050405020304" pitchFamily="18" charset="0"/>
                <a:cs typeface="Times New Roman" panose="02020603050405020304" pitchFamily="18" charset="0"/>
              </a:rPr>
              <a:t>TÀI LIỆU THAM KHẢO</a:t>
            </a:r>
          </a:p>
          <a:p>
            <a:pPr algn="just"/>
            <a:r>
              <a:rPr lang="en-US">
                <a:latin typeface="Times New Roman" panose="02020603050405020304" pitchFamily="18" charset="0"/>
                <a:cs typeface="Times New Roman" panose="02020603050405020304" pitchFamily="18" charset="0"/>
              </a:rPr>
              <a:t>[1] OWASP Foundation, OWASP IoT Security Verification Standard (ISVS). [Online]. Available: </a:t>
            </a:r>
            <a:r>
              <a:rPr lang="en-US">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https://github.com/OWASP/IoT-Security-Verification-Standard-ISVS</a:t>
            </a:r>
            <a:r>
              <a:rPr lang="en-US">
                <a:latin typeface="Times New Roman" panose="02020603050405020304" pitchFamily="18" charset="0"/>
                <a:cs typeface="Times New Roman" panose="02020603050405020304" pitchFamily="18" charset="0"/>
              </a:rPr>
              <a:t>. [Accessed: Jul. 22, 2026].</a:t>
            </a:r>
          </a:p>
          <a:p>
            <a:pPr algn="just"/>
            <a:r>
              <a:rPr lang="en-US">
                <a:latin typeface="Times New Roman" panose="02020603050405020304" pitchFamily="18" charset="0"/>
                <a:cs typeface="Times New Roman" panose="02020603050405020304" pitchFamily="18" charset="0"/>
              </a:rPr>
              <a:t>[2] OWASP Foundation, OWASP Internet of Things Security Verification Standard. [Online]. Available: </a:t>
            </a:r>
            <a:r>
              <a:rPr lang="en-US">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https://owasp.org/www-project-iot-security-verification-standard/</a:t>
            </a:r>
            <a:r>
              <a:rPr lang="en-US">
                <a:latin typeface="Times New Roman" panose="02020603050405020304" pitchFamily="18" charset="0"/>
                <a:cs typeface="Times New Roman" panose="02020603050405020304" pitchFamily="18" charset="0"/>
              </a:rPr>
              <a:t>. [Accessed: Jul. 22, 2026].</a:t>
            </a:r>
          </a:p>
          <a:p>
            <a:pPr algn="just"/>
            <a:r>
              <a:rPr lang="en-US">
                <a:latin typeface="Times New Roman" panose="02020603050405020304" pitchFamily="18" charset="0"/>
                <a:cs typeface="Times New Roman" panose="02020603050405020304" pitchFamily="18" charset="0"/>
              </a:rPr>
              <a:t>[3] Pallets Project, Flask. GitHub Repository. [Online]. Available: </a:t>
            </a:r>
            <a:r>
              <a:rPr lang="en-US">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https://github.com/pallets/flask</a:t>
            </a:r>
            <a:r>
              <a:rPr lang="en-US">
                <a:latin typeface="Times New Roman" panose="02020603050405020304" pitchFamily="18" charset="0"/>
                <a:cs typeface="Times New Roman" panose="02020603050405020304" pitchFamily="18" charset="0"/>
              </a:rPr>
              <a:t>. [Accessed: Jul. 22, 2026].</a:t>
            </a:r>
          </a:p>
          <a:p>
            <a:pPr algn="just"/>
            <a:r>
              <a:rPr lang="en-US">
                <a:latin typeface="Times New Roman" panose="02020603050405020304" pitchFamily="18" charset="0"/>
                <a:cs typeface="Times New Roman" panose="02020603050405020304" pitchFamily="18" charset="0"/>
              </a:rPr>
              <a:t>[4] Pallets Project, Flask Documentation. [Online]. Available: </a:t>
            </a:r>
            <a:r>
              <a:rPr lang="en-US">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https://flask.palletsprojects.com/</a:t>
            </a:r>
            <a:r>
              <a:rPr lang="en-US">
                <a:latin typeface="Times New Roman" panose="02020603050405020304" pitchFamily="18" charset="0"/>
                <a:cs typeface="Times New Roman" panose="02020603050405020304" pitchFamily="18" charset="0"/>
              </a:rPr>
              <a:t>. [Accessed: Jul. 22, 2026].</a:t>
            </a:r>
          </a:p>
          <a:p>
            <a:pPr algn="just"/>
            <a:r>
              <a:rPr lang="en-US">
                <a:latin typeface="Times New Roman" panose="02020603050405020304" pitchFamily="18" charset="0"/>
                <a:cs typeface="Times New Roman" panose="02020603050405020304" pitchFamily="18" charset="0"/>
              </a:rPr>
              <a:t>[5] Mbed TLS Team, Mbed TLS. GitHub Repository. [Online]. Available: </a:t>
            </a:r>
            <a:r>
              <a:rPr lang="en-US">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https://github.com/Mbed-TLS/mbedtls</a:t>
            </a:r>
            <a:r>
              <a:rPr lang="en-US">
                <a:latin typeface="Times New Roman" panose="02020603050405020304" pitchFamily="18" charset="0"/>
                <a:cs typeface="Times New Roman" panose="02020603050405020304" pitchFamily="18" charset="0"/>
              </a:rPr>
              <a:t>. [Accessed: Jul. 22, 2026].</a:t>
            </a:r>
          </a:p>
          <a:p>
            <a:pPr algn="just"/>
            <a:r>
              <a:rPr lang="en-US">
                <a:latin typeface="Times New Roman" panose="02020603050405020304" pitchFamily="18" charset="0"/>
                <a:cs typeface="Times New Roman" panose="02020603050405020304" pitchFamily="18" charset="0"/>
              </a:rPr>
              <a:t>[6] Mbed TLS Team, Mbed TLS Documentation. [Online]. Available: </a:t>
            </a:r>
            <a:r>
              <a:rPr lang="en-US">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https://mbed-tls.readthedocs.io/</a:t>
            </a:r>
            <a:r>
              <a:rPr lang="en-US">
                <a:latin typeface="Times New Roman" panose="02020603050405020304" pitchFamily="18" charset="0"/>
                <a:cs typeface="Times New Roman" panose="02020603050405020304" pitchFamily="18" charset="0"/>
              </a:rPr>
              <a:t>. [Accessed: Jul. 22, 2026].</a:t>
            </a:r>
          </a:p>
          <a:p>
            <a:pPr algn="just"/>
            <a:r>
              <a:rPr lang="en-US">
                <a:latin typeface="Times New Roman" panose="02020603050405020304" pitchFamily="18" charset="0"/>
                <a:cs typeface="Times New Roman" panose="02020603050405020304" pitchFamily="18" charset="0"/>
              </a:rPr>
              <a:t>[7] OWASP Foundation, OWASP Cheat Sheet Series. [Online]. Available: </a:t>
            </a:r>
            <a:r>
              <a:rPr lang="en-US">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https://cheatsheetseries.owasp.org/</a:t>
            </a:r>
            <a:r>
              <a:rPr lang="en-US">
                <a:latin typeface="Times New Roman" panose="02020603050405020304" pitchFamily="18" charset="0"/>
                <a:cs typeface="Times New Roman" panose="02020603050405020304" pitchFamily="18" charset="0"/>
              </a:rPr>
              <a:t>. [Accessed: Jul. 22, 2026].</a:t>
            </a:r>
          </a:p>
          <a:p>
            <a:pPr algn="just"/>
            <a:r>
              <a:rPr lang="en-US">
                <a:latin typeface="Times New Roman" panose="02020603050405020304" pitchFamily="18" charset="0"/>
                <a:cs typeface="Times New Roman" panose="02020603050405020304" pitchFamily="18" charset="0"/>
              </a:rPr>
              <a:t>[8] OWASP Foundation, Transport Layer Security Cheat Sheet. [Online]. Available: </a:t>
            </a:r>
            <a:r>
              <a:rPr lang="en-US">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https://cheatsheetseries.owasp.org/cheatsheets/Transport_Layer_Security_Cheat_Sheet.html</a:t>
            </a:r>
            <a:r>
              <a:rPr lang="en-US">
                <a:latin typeface="Times New Roman" panose="02020603050405020304" pitchFamily="18" charset="0"/>
                <a:cs typeface="Times New Roman" panose="02020603050405020304" pitchFamily="18" charset="0"/>
              </a:rPr>
              <a:t>. [Accessed: Jul. 22, 2026].</a:t>
            </a:r>
          </a:p>
          <a:p>
            <a:pPr algn="just"/>
            <a:r>
              <a:rPr lang="en-US">
                <a:latin typeface="Times New Roman" panose="02020603050405020304" pitchFamily="18" charset="0"/>
                <a:cs typeface="Times New Roman" panose="02020603050405020304" pitchFamily="18" charset="0"/>
              </a:rPr>
              <a:t>[9] OWASP Foundation, Logging Cheat Sheet. [Online]. Available: </a:t>
            </a:r>
            <a:r>
              <a:rPr lang="en-US">
                <a:latin typeface="Times New Roman" panose="02020603050405020304" pitchFamily="18" charset="0"/>
                <a:cs typeface="Times New Roman" panose="02020603050405020304" pitchFamily="18" charset="0"/>
                <a:hlinkClick r:id="rId10">
                  <a:extLst>
                    <a:ext uri="{A12FA001-AC4F-418D-AE19-62706E023703}">
                      <ahyp:hlinkClr xmlns:ahyp="http://schemas.microsoft.com/office/drawing/2018/hyperlinkcolor" val="tx"/>
                    </a:ext>
                  </a:extLst>
                </a:hlinkClick>
              </a:rPr>
              <a:t>https://cheatsheetseries.owasp.org/cheatsheets/Logging_Cheat_Sheet.html</a:t>
            </a:r>
            <a:r>
              <a:rPr lang="en-US">
                <a:latin typeface="Times New Roman" panose="02020603050405020304" pitchFamily="18" charset="0"/>
                <a:cs typeface="Times New Roman" panose="02020603050405020304" pitchFamily="18" charset="0"/>
              </a:rPr>
              <a:t>. [Accessed: Jul. 22, 2026].</a:t>
            </a:r>
          </a:p>
        </p:txBody>
      </p:sp>
    </p:spTree>
    <p:extLst>
      <p:ext uri="{BB962C8B-B14F-4D97-AF65-F5344CB8AC3E}">
        <p14:creationId xmlns:p14="http://schemas.microsoft.com/office/powerpoint/2010/main" val="22617202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2f88751-7a4c-4305-b696-e789f7de0265">
      <Terms xmlns="http://schemas.microsoft.com/office/infopath/2007/PartnerControls"/>
    </lcf76f155ced4ddcb4097134ff3c332f>
    <TaxCatchAll xmlns="baa60a88-59d3-42bb-a655-7426b553620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18724E1BB90574C8A6F10327B0CE2D5" ma:contentTypeVersion="18" ma:contentTypeDescription="Create a new document." ma:contentTypeScope="" ma:versionID="b6bfdbd4fddbe3799e331734638140a2">
  <xsd:schema xmlns:xsd="http://www.w3.org/2001/XMLSchema" xmlns:xs="http://www.w3.org/2001/XMLSchema" xmlns:p="http://schemas.microsoft.com/office/2006/metadata/properties" xmlns:ns2="c2f88751-7a4c-4305-b696-e789f7de0265" xmlns:ns3="baa60a88-59d3-42bb-a655-7426b553620a" targetNamespace="http://schemas.microsoft.com/office/2006/metadata/properties" ma:root="true" ma:fieldsID="43b38f7050eb2d8f92c18b5696e202d3" ns2:_="" ns3:_="">
    <xsd:import namespace="c2f88751-7a4c-4305-b696-e789f7de0265"/>
    <xsd:import namespace="baa60a88-59d3-42bb-a655-7426b553620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f88751-7a4c-4305-b696-e789f7de02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3097a73-77bc-4157-a05a-33c0e637898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a60a88-59d3-42bb-a655-7426b553620a"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c5fb41d-7605-4eb9-be18-2595a3359afa}" ma:internalName="TaxCatchAll" ma:showField="CatchAllData" ma:web="baa60a88-59d3-42bb-a655-7426b55362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7FE58E-13C6-47C7-88A5-1D53FF307E73}">
  <ds:schemaRefs>
    <ds:schemaRef ds:uri="http://schemas.microsoft.com/office/2006/metadata/properties"/>
    <ds:schemaRef ds:uri="http://schemas.microsoft.com/office/infopath/2007/PartnerControls"/>
    <ds:schemaRef ds:uri="c2f88751-7a4c-4305-b696-e789f7de0265"/>
    <ds:schemaRef ds:uri="baa60a88-59d3-42bb-a655-7426b553620a"/>
  </ds:schemaRefs>
</ds:datastoreItem>
</file>

<file path=customXml/itemProps2.xml><?xml version="1.0" encoding="utf-8"?>
<ds:datastoreItem xmlns:ds="http://schemas.openxmlformats.org/officeDocument/2006/customXml" ds:itemID="{349FFEFF-5E3B-4F5E-A677-A3AE9A5F705F}">
  <ds:schemaRefs>
    <ds:schemaRef ds:uri="http://schemas.microsoft.com/sharepoint/v3/contenttype/forms"/>
  </ds:schemaRefs>
</ds:datastoreItem>
</file>

<file path=customXml/itemProps3.xml><?xml version="1.0" encoding="utf-8"?>
<ds:datastoreItem xmlns:ds="http://schemas.openxmlformats.org/officeDocument/2006/customXml" ds:itemID="{BC2172D7-7F8D-4436-B7A2-270A479E37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f88751-7a4c-4305-b696-e789f7de0265"/>
    <ds:schemaRef ds:uri="baa60a88-59d3-42bb-a655-7426b55362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201</TotalTime>
  <Words>1126</Words>
  <Application>Microsoft Office PowerPoint</Application>
  <PresentationFormat>Widescreen</PresentationFormat>
  <Paragraphs>83</Paragraphs>
  <Slides>10</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Calibri</vt:lpstr>
      <vt:lpstr>Calibri Light</vt:lpstr>
      <vt:lpstr>Times New Roman</vt:lpstr>
      <vt:lpstr>Office Theme</vt:lpstr>
      <vt:lpstr>Custom Design</vt:lpstr>
      <vt:lpstr>ĐỀ TÀI 28: GIẢ MẠO THIẾT BỊ TRONG HỆ THỐNG IoT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HHO DungDV</dc:creator>
  <cp:lastModifiedBy>Tâm Lee</cp:lastModifiedBy>
  <cp:revision>27</cp:revision>
  <dcterms:created xsi:type="dcterms:W3CDTF">2023-09-09T11:03:54Z</dcterms:created>
  <dcterms:modified xsi:type="dcterms:W3CDTF">2026-07-24T08:16:31Z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0x010100718724E1BB90574C8A6F10327B0CE2D5</vt:lpwstr>
  </property>
  <property fmtid="{D5CDD505-2E9C-101B-9397-08002B2CF9AE}" pid="3" name="MediaServiceImageTags">
    <vt:lpwstr/>
  </property>
</Properties>
</file>